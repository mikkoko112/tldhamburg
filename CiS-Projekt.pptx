
<file path=[Content_Types].xml><?xml version="1.0" encoding="utf-8"?>
<Types xmlns="http://schemas.openxmlformats.org/package/2006/content-types">
  <Default Extension="png" ContentType="image/png"/>
  <Default Extension="wmf" ContentType="image/x-w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61" r:id="rId2"/>
  </p:sldMasterIdLst>
  <p:notesMasterIdLst>
    <p:notesMasterId r:id="rId17"/>
  </p:notesMasterIdLst>
  <p:handoutMasterIdLst>
    <p:handoutMasterId r:id="rId18"/>
  </p:handoutMasterIdLst>
  <p:sldIdLst>
    <p:sldId id="256" r:id="rId3"/>
    <p:sldId id="258" r:id="rId4"/>
    <p:sldId id="257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7772400" cy="100584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70"/>
    <p:restoredTop sz="94763"/>
  </p:normalViewPr>
  <p:slideViewPr>
    <p:cSldViewPr snapToGrid="0">
      <p:cViewPr varScale="1">
        <p:scale>
          <a:sx n="118" d="100"/>
          <a:sy n="118" d="100"/>
        </p:scale>
        <p:origin x="14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7" d="100"/>
          <a:sy n="77" d="100"/>
        </p:scale>
        <p:origin x="2480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4853A66-3AD6-71EB-6035-90C4480159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671F66-5C17-7B37-5A25-59CBBF7954D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AB800C-305E-2C41-8096-0EDBE764B1AF}" type="datetimeFigureOut">
              <a:rPr lang="en-DE" smtClean="0"/>
              <a:t>10/22/24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8E5F4B-5799-09D7-6746-A944DBA25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4E9EA6-CB16-02F6-2358-9E71D22C3B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D7E029-301A-A64B-8B81-DB73CD4A083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33076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2A31B7-B52A-AE43-A408-51D438091011}" type="datetimeFigureOut">
              <a:rPr lang="en-DE" smtClean="0"/>
              <a:t>10/22/24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624013" y="1257300"/>
            <a:ext cx="4524375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D91CA9-4EA3-AF47-8B3F-ADB35F2089EB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7459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6F9A84-A7CA-7C49-9670-9B94C217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C9D13-9386-5F42-819D-64F68B7EC33E}" type="datetime1">
              <a:rPr lang="de-DE" smtClean="0"/>
              <a:t>22.10.24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BF1CE-2B4D-4185-8B4E-A53E9193A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1A9CD8-9DA0-A81E-14F6-C4ED5F6D2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9B91AC-1804-0451-E4FE-5E44F63CF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64747-FE93-C348-B38C-977650B50862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D6D472-2CB9-1B65-3EFE-527FF7BD2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C106A-EFC0-8A97-D6B9-F75A5EF31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760F3F-A17C-8961-05AC-A06030774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A625C0-B810-4042-A60B-CD0C68D4A602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8CD51E-871B-D667-B559-996E1F8CD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A8D61-15AB-A19C-F686-6363B654C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075294-DB22-AD8F-3DD5-BEC348985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9B706D-46CB-4945-98A8-83DD4363C0CC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7E4F74-4F3F-5168-3385-B92235A40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CDCE07-B902-AF26-D7D0-24093B09E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E46ADE-5361-9E69-D54B-E4B24972B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998D7-97AC-4645-9850-2BABD1A4FF50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C81DFE-DC54-9D5F-F96E-D1DF6BEC7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49ECC-4022-57B3-05A8-7FD2A0ACD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5B8872-7F98-3EF6-3F03-E029C0159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DEC65-F8A2-6743-8A16-0664123CA582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9B02FE-1F67-D1DF-D3CF-570D2AA5B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A0ADBB-B774-917D-E4A2-F0B4111E7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87B0C-57B5-9E4E-6CFE-FE548847A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5A2FE-F587-8945-B5BB-F8F2B9389C3F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DCCBAE-2010-FF1D-D074-05D0210F9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C8665-7A1C-8FBC-CE22-116CDEE8F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96CDE3-089C-D0B6-B577-8EC4450CA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FFF01-31BB-1349-904F-CC2DBF738C7D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C55B10-3A18-6DF9-B408-4BECE74A4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D2E94-7FAA-5D4A-032A-85DBE3BE9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87F9B8-C839-CABD-7835-5AB79AD09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271C-13EF-A14D-AEBE-C2523EB58D17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81C414-570D-54E4-7D7B-E5C59CB8B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18A16D-EBC6-788F-8220-BB75623A8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0D224B-60A3-3406-29D5-B05E1726D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7A4C91-0AAD-D347-8A12-A61F0BD423D4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3CB490-82E8-EACE-9EBC-56321C393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F8DB6-16E5-E189-059B-C4FBC7EA3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8D4AA9-D3C9-E4F0-E15F-19AD22477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22998C-E1D0-3948-9C4C-A4844208B326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4AA004-B999-15D3-EBE6-E2EB1CC58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E6E430-DFB9-ED91-FC0D-A1CEF22FC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887034-CCFA-368B-8881-3A5070558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C767A-87D7-8847-8135-03DC509387E7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668F4C-A236-C6D9-6D64-4C6C07C7D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9B809-F519-63E7-BC08-C83320F9A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0D1780-8562-0C20-BB25-F04E5DD7D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9ABD-E509-A24E-B468-A7395207E925}" type="datetime1">
              <a:rPr lang="de-DE" smtClean="0"/>
              <a:t>22.10.24</a:t>
            </a:fld>
            <a:endParaRPr lang="en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C832BC-2E90-3050-08BC-944A8AF82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2CF09-4B65-5705-63DC-5FB9EB2F2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BF944F-A6F2-E55D-BF6F-AEDC6C6DD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1E74B4-7B12-67DA-107C-C3703531C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48491-2F4B-1579-BDBB-A8215A7E5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31BEDD-09A9-5CDC-B089-162BEA2D2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2FD34-7F6C-EC46-AEB1-845633BA5368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C8F795-C420-BECF-97D8-7B1584798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C04FDB-33F4-8C32-0083-CE80E6896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E47C05-C990-787D-7609-ADE9E2319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D10AC-CF20-B944-9D9D-D70D31AC71E3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9B4D5B-8E90-5FB7-4129-F330E9941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0966F-B6F0-C8F8-D2A9-090174BBD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D941BA-16F4-7B29-A4EF-652903786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E575B-8C89-5A46-A500-EEE867877C68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968744-3636-ADEC-A791-ED39DA74F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0B6D2-C2A4-07C8-4E1B-61D4AD188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DD4C56-03DD-BBA0-D1C2-400A9BD67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93AA7-5923-6A4D-8C54-7BAA40441436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2E90A-B5D3-30A6-149E-BA2F4422D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613FF-0548-8234-264B-912114D42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56970E-1ABF-0A25-3755-01A24226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820AA-6151-0C4C-B826-4FC62DBABCAE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BAD3C4-C41F-15DD-1792-A0F185668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104D3-6D52-65DC-AAA6-D474960E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24B1B0-E5DA-8A02-FDD9-4D4B21C42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04B49-DE67-A942-A928-C596320198E2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09A8F9-9650-C36D-43CE-6E01ABBCF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E250A1-D55B-266E-4121-F15FE4CF8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540E32-EB29-F78F-21CB-C33D83B66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9E177-A04B-2144-839B-78BA09DD5A4B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9E4A4-9D20-DE80-CF39-B609B8ECA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674A-3B30-C251-687E-D2007297C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1E1317-90C6-E15A-5A77-077190B4B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9E16C-ECE5-A24A-BE33-2A36DC0B5546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88C16A-F3FB-95B8-10C9-E63CD4336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C893B0-3A74-F288-259F-D63FE69F1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81B9CF-245E-6588-A56F-824F53F41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3ED3D-829E-C84D-A902-4B819A54677D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C2505A-54E2-168C-7AA1-C6A0EA0E9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D8D42-147E-9643-12C2-4982B179D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0533D7-07F7-C140-63C2-7B035922A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F563-1640-9541-9315-7D892C0CA96C}" type="datetime1">
              <a:rPr lang="de-DE" smtClean="0"/>
              <a:t>22.10.24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EB2800-8540-D300-5791-D74E6FA40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D1A6A-0716-A166-8156-0D8A6FA51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w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stomShape 1"/>
          <p:cNvSpPr/>
          <p:nvPr/>
        </p:nvSpPr>
        <p:spPr>
          <a:xfrm rot="10800000" flipV="1">
            <a:off x="54860040" y="8641440"/>
            <a:ext cx="9140400" cy="354600"/>
          </a:xfrm>
          <a:prstGeom prst="rect">
            <a:avLst/>
          </a:prstGeom>
          <a:solidFill>
            <a:srgbClr val="3B515B">
              <a:alpha val="15000"/>
            </a:srgbClr>
          </a:solidFill>
          <a:ln w="9360">
            <a:noFill/>
          </a:ln>
          <a:effectLst>
            <a:outerShdw dist="23040" dir="540000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3" name="Bild 7"/>
          <p:cNvPicPr/>
          <p:nvPr/>
        </p:nvPicPr>
        <p:blipFill>
          <a:blip r:embed="rId14"/>
          <a:stretch/>
        </p:blipFill>
        <p:spPr>
          <a:xfrm>
            <a:off x="-380160" y="-380160"/>
            <a:ext cx="2729880" cy="1476360"/>
          </a:xfrm>
          <a:prstGeom prst="rect">
            <a:avLst/>
          </a:prstGeom>
          <a:ln w="0">
            <a:noFill/>
          </a:ln>
        </p:spPr>
      </p:pic>
      <p:sp>
        <p:nvSpPr>
          <p:cNvPr id="2" name="CustomShape 2"/>
          <p:cNvSpPr/>
          <p:nvPr/>
        </p:nvSpPr>
        <p:spPr>
          <a:xfrm>
            <a:off x="7065720" y="381960"/>
            <a:ext cx="1819080" cy="14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210"/>
              </a:spcBef>
              <a:buNone/>
            </a:pPr>
            <a:r>
              <a:rPr lang="en-US" sz="1050" b="0" strike="noStrike" spc="63">
                <a:solidFill>
                  <a:srgbClr val="000000"/>
                </a:solidFill>
                <a:latin typeface="TheSans UHH Bold Caps"/>
                <a:ea typeface="DejaVu Sans"/>
              </a:rPr>
              <a:t>MIN-Fakultät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CustomShape 3"/>
          <p:cNvSpPr/>
          <p:nvPr/>
        </p:nvSpPr>
        <p:spPr>
          <a:xfrm>
            <a:off x="7071840" y="528120"/>
            <a:ext cx="1812960" cy="16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  <a:spcBef>
                <a:spcPts val="210"/>
              </a:spcBef>
              <a:buNone/>
            </a:pPr>
            <a:r>
              <a:rPr lang="en-US" sz="1050" b="0" strike="noStrike" spc="12">
                <a:solidFill>
                  <a:srgbClr val="009CD1"/>
                </a:solidFill>
                <a:latin typeface="TheSans UHH SemiLight Caps"/>
                <a:ea typeface="DejaVu Sans"/>
              </a:rPr>
              <a:t>Zentrum für Bioinformatik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Line 4"/>
          <p:cNvSpPr/>
          <p:nvPr/>
        </p:nvSpPr>
        <p:spPr>
          <a:xfrm>
            <a:off x="0" y="1165680"/>
            <a:ext cx="9144000" cy="2880"/>
          </a:xfrm>
          <a:prstGeom prst="line">
            <a:avLst/>
          </a:prstGeom>
          <a:ln w="25560">
            <a:solidFill>
              <a:srgbClr val="009C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2120" rIns="90000" bIns="-421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" name="CustomShape 5"/>
          <p:cNvSpPr/>
          <p:nvPr/>
        </p:nvSpPr>
        <p:spPr>
          <a:xfrm>
            <a:off x="3673080" y="6564960"/>
            <a:ext cx="1525320" cy="23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000" b="0" strike="noStrike" spc="-1">
                <a:solidFill>
                  <a:srgbClr val="000000"/>
                </a:solidFill>
                <a:latin typeface="TheSans UHH Regular"/>
                <a:ea typeface="DejaVu Sans"/>
              </a:rPr>
              <a:t>Prof. Dr. Matthias Rarey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CustomShape 6"/>
          <p:cNvSpPr/>
          <p:nvPr/>
        </p:nvSpPr>
        <p:spPr>
          <a:xfrm>
            <a:off x="453240" y="6543000"/>
            <a:ext cx="947520" cy="23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000" b="0" strike="noStrike" spc="-1">
                <a:solidFill>
                  <a:srgbClr val="000000"/>
                </a:solidFill>
                <a:latin typeface="TheSans UHH Regular"/>
                <a:ea typeface="DejaVu Sans"/>
              </a:rPr>
              <a:t>29 / 03 / 2019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CustomShape 7"/>
          <p:cNvSpPr/>
          <p:nvPr/>
        </p:nvSpPr>
        <p:spPr>
          <a:xfrm>
            <a:off x="8474400" y="6540480"/>
            <a:ext cx="554040" cy="23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" name="CustomShape 8"/>
          <p:cNvSpPr/>
          <p:nvPr/>
        </p:nvSpPr>
        <p:spPr>
          <a:xfrm>
            <a:off x="0" y="1463760"/>
            <a:ext cx="9140400" cy="4951440"/>
          </a:xfrm>
          <a:prstGeom prst="rect">
            <a:avLst/>
          </a:prstGeom>
          <a:solidFill>
            <a:srgbClr val="10243E"/>
          </a:solidFill>
          <a:ln w="9360">
            <a:noFill/>
          </a:ln>
          <a:effectLst>
            <a:outerShdw dist="23040" dir="540000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endParaRPr lang="en-US" sz="18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" name="CustomShape 9"/>
          <p:cNvSpPr/>
          <p:nvPr/>
        </p:nvSpPr>
        <p:spPr>
          <a:xfrm>
            <a:off x="0" y="6418440"/>
            <a:ext cx="9140400" cy="435960"/>
          </a:xfrm>
          <a:prstGeom prst="rect">
            <a:avLst/>
          </a:prstGeom>
          <a:solidFill>
            <a:srgbClr val="FFFFFF"/>
          </a:solidFill>
          <a:ln w="9360">
            <a:noFill/>
          </a:ln>
          <a:effectLst>
            <a:outerShdw dist="23040" dir="540000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1AE7D222-8916-9C44-918C-7287CE58BF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87732F-142C-AC47-B643-19D1499432B7}" type="datetime1">
              <a:rPr lang="de-DE" smtClean="0"/>
              <a:t>22.10.24</a:t>
            </a:fld>
            <a:endParaRPr lang="en-DE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8BE7738C-0B50-0B20-0A01-6A8519FBCC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3B1B167D-D650-42B9-4232-2C3CD067E6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CustomShape 1"/>
          <p:cNvSpPr/>
          <p:nvPr/>
        </p:nvSpPr>
        <p:spPr>
          <a:xfrm rot="10800000" flipV="1">
            <a:off x="54860040" y="8641440"/>
            <a:ext cx="9140400" cy="354600"/>
          </a:xfrm>
          <a:prstGeom prst="rect">
            <a:avLst/>
          </a:prstGeom>
          <a:solidFill>
            <a:srgbClr val="3B515B">
              <a:alpha val="15000"/>
            </a:srgbClr>
          </a:solidFill>
          <a:ln w="9360">
            <a:noFill/>
          </a:ln>
          <a:effectLst>
            <a:outerShdw dist="23040" dir="540000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" name="Bild 7"/>
          <p:cNvPicPr/>
          <p:nvPr/>
        </p:nvPicPr>
        <p:blipFill>
          <a:blip r:embed="rId14"/>
          <a:stretch/>
        </p:blipFill>
        <p:spPr>
          <a:xfrm>
            <a:off x="-380160" y="-380160"/>
            <a:ext cx="2729880" cy="1476360"/>
          </a:xfrm>
          <a:prstGeom prst="rect">
            <a:avLst/>
          </a:prstGeom>
          <a:ln w="0">
            <a:noFill/>
          </a:ln>
        </p:spPr>
      </p:pic>
      <p:sp>
        <p:nvSpPr>
          <p:cNvPr id="50" name="CustomShape 2"/>
          <p:cNvSpPr/>
          <p:nvPr/>
        </p:nvSpPr>
        <p:spPr>
          <a:xfrm>
            <a:off x="7065720" y="381960"/>
            <a:ext cx="1819080" cy="14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210"/>
              </a:spcBef>
              <a:buNone/>
            </a:pPr>
            <a:r>
              <a:rPr lang="en-US" sz="1050" b="0" strike="noStrike" spc="63">
                <a:solidFill>
                  <a:srgbClr val="000000"/>
                </a:solidFill>
                <a:latin typeface="TheSans UHH Bold Caps"/>
                <a:ea typeface="DejaVu Sans"/>
              </a:rPr>
              <a:t>MIN-Fakultät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CustomShape 3"/>
          <p:cNvSpPr/>
          <p:nvPr/>
        </p:nvSpPr>
        <p:spPr>
          <a:xfrm>
            <a:off x="7071840" y="528120"/>
            <a:ext cx="1812960" cy="16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  <a:spcBef>
                <a:spcPts val="210"/>
              </a:spcBef>
              <a:buNone/>
            </a:pPr>
            <a:r>
              <a:rPr lang="en-US" sz="1050" b="0" strike="noStrike" spc="12">
                <a:solidFill>
                  <a:srgbClr val="009CD1"/>
                </a:solidFill>
                <a:latin typeface="TheSans UHH SemiLight Caps"/>
                <a:ea typeface="DejaVu Sans"/>
              </a:rPr>
              <a:t>Zentrum für Bioinformatik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Line 4"/>
          <p:cNvSpPr/>
          <p:nvPr/>
        </p:nvSpPr>
        <p:spPr>
          <a:xfrm>
            <a:off x="0" y="1165680"/>
            <a:ext cx="9144000" cy="2880"/>
          </a:xfrm>
          <a:prstGeom prst="line">
            <a:avLst/>
          </a:prstGeom>
          <a:ln w="25560">
            <a:solidFill>
              <a:srgbClr val="009C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2120" rIns="90000" bIns="-421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" name="CustomShape 7"/>
          <p:cNvSpPr/>
          <p:nvPr/>
        </p:nvSpPr>
        <p:spPr>
          <a:xfrm>
            <a:off x="8474400" y="6540480"/>
            <a:ext cx="554040" cy="23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AF0CC-BD12-60E9-E2F8-6CA6501788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391E1-63FE-2F40-042E-9952FE590D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A6639B-6ECB-1F4C-A239-3D3843A9EA7B}" type="datetime1">
              <a:rPr lang="de-DE" smtClean="0"/>
              <a:t>22.10.24</a:t>
            </a:fld>
            <a:endParaRPr lang="en-DE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836B140-400A-8ED6-8A66-20299275E1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ustomShape 1"/>
          <p:cNvSpPr/>
          <p:nvPr/>
        </p:nvSpPr>
        <p:spPr>
          <a:xfrm>
            <a:off x="0" y="1463760"/>
            <a:ext cx="9140400" cy="4951440"/>
          </a:xfrm>
          <a:prstGeom prst="rect">
            <a:avLst/>
          </a:prstGeom>
          <a:solidFill>
            <a:srgbClr val="000540"/>
          </a:solidFill>
          <a:ln w="9360">
            <a:noFill/>
          </a:ln>
          <a:effectLst>
            <a:outerShdw dist="23040" dir="540000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endParaRPr lang="en-US" sz="1800" b="0" strike="noStrike" spc="-1" dirty="0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6" name="CustomShape 3"/>
          <p:cNvSpPr/>
          <p:nvPr/>
        </p:nvSpPr>
        <p:spPr>
          <a:xfrm>
            <a:off x="441180" y="2661192"/>
            <a:ext cx="8261640" cy="47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de-DE" sz="2800" b="0" strike="noStrike" spc="-1" dirty="0">
                <a:solidFill>
                  <a:srgbClr val="FFFFFF"/>
                </a:solidFill>
                <a:latin typeface="TheSans UHH Bold Caps"/>
                <a:ea typeface="DejaVu Sans"/>
              </a:rPr>
              <a:t>Projekt </a:t>
            </a:r>
            <a:r>
              <a:rPr lang="de-DE" sz="2800" b="0" strike="noStrike" spc="-1" dirty="0" err="1">
                <a:solidFill>
                  <a:srgbClr val="FFFFFF"/>
                </a:solidFill>
                <a:latin typeface="TheSans UHH Bold Caps"/>
                <a:ea typeface="DejaVu Sans"/>
              </a:rPr>
              <a:t>CiS</a:t>
            </a:r>
            <a:r>
              <a:rPr lang="de-DE" sz="2800" spc="-1" dirty="0">
                <a:solidFill>
                  <a:srgbClr val="FFFFFF"/>
                </a:solidFill>
                <a:latin typeface="TheSans UHH Bold Caps"/>
                <a:ea typeface="DejaVu Sans"/>
              </a:rPr>
              <a:t> Biochemie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>
            <a:extLst>
              <a:ext uri="{FF2B5EF4-FFF2-40B4-BE49-F238E27FC236}">
                <a16:creationId xmlns:a16="http://schemas.microsoft.com/office/drawing/2014/main" id="{7C25A6C7-A129-02DE-60E4-48257991FB32}"/>
              </a:ext>
            </a:extLst>
          </p:cNvPr>
          <p:cNvSpPr/>
          <p:nvPr/>
        </p:nvSpPr>
        <p:spPr>
          <a:xfrm>
            <a:off x="1402392" y="3652404"/>
            <a:ext cx="6339216" cy="9883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de-DE" sz="2800" b="0" strike="noStrike" spc="-1" dirty="0">
                <a:solidFill>
                  <a:srgbClr val="FFFFFF"/>
                </a:solidFill>
                <a:latin typeface="TheSans UHH Bold Caps"/>
                <a:ea typeface="DejaVu Sans"/>
              </a:rPr>
              <a:t>Navigationsoptimierung anhand von Ampelschaltungsdaten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D152A-4919-900E-9A09-58635717C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>
            <a:extLst>
              <a:ext uri="{FF2B5EF4-FFF2-40B4-BE49-F238E27FC236}">
                <a16:creationId xmlns:a16="http://schemas.microsoft.com/office/drawing/2014/main" id="{3A4A40B6-3608-CDF7-8C1A-1E62B47D3FAA}"/>
              </a:ext>
            </a:extLst>
          </p:cNvPr>
          <p:cNvSpPr/>
          <p:nvPr/>
        </p:nvSpPr>
        <p:spPr>
          <a:xfrm>
            <a:off x="457200" y="699120"/>
            <a:ext cx="7883280" cy="46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spc="-1" dirty="0" err="1">
                <a:solidFill>
                  <a:srgbClr val="000000"/>
                </a:solidFill>
                <a:latin typeface="TheSans UHH Bold"/>
              </a:rPr>
              <a:t>Terminplanung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9BA65B-8D09-F1B1-876F-8643FB884A84}"/>
              </a:ext>
            </a:extLst>
          </p:cNvPr>
          <p:cNvSpPr txBox="1"/>
          <p:nvPr/>
        </p:nvSpPr>
        <p:spPr>
          <a:xfrm>
            <a:off x="457200" y="1361978"/>
            <a:ext cx="6833616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16.10.2024	Kickoff</a:t>
            </a:r>
          </a:p>
          <a:p>
            <a:r>
              <a:rPr lang="en-DE" dirty="0">
                <a:hlinkClick r:id="rId2" action="ppaction://hlinksldjump"/>
              </a:rPr>
              <a:t>23.10.2024</a:t>
            </a:r>
            <a:r>
              <a:rPr lang="en-DE" dirty="0"/>
              <a:t>	Datengrundlage, def. Meilensteine</a:t>
            </a:r>
          </a:p>
          <a:p>
            <a:r>
              <a:rPr lang="en-DE" dirty="0"/>
              <a:t>30.10.2024	tbd, Zeitplan</a:t>
            </a:r>
          </a:p>
          <a:p>
            <a:r>
              <a:rPr lang="en-DE" dirty="0"/>
              <a:t>06.11.2024	tbd</a:t>
            </a:r>
          </a:p>
          <a:p>
            <a:r>
              <a:rPr lang="en-DE" dirty="0"/>
              <a:t>13.11.2024	tbd</a:t>
            </a:r>
          </a:p>
          <a:p>
            <a:r>
              <a:rPr lang="en-DE" dirty="0"/>
              <a:t>20.11.2024	tbd</a:t>
            </a:r>
          </a:p>
          <a:p>
            <a:r>
              <a:rPr lang="en-DE" dirty="0"/>
              <a:t>27.11.2024	tbd</a:t>
            </a:r>
          </a:p>
          <a:p>
            <a:r>
              <a:rPr lang="en-DE" dirty="0"/>
              <a:t>04.12.2024	tbd</a:t>
            </a:r>
          </a:p>
          <a:p>
            <a:r>
              <a:rPr lang="en-DE" dirty="0"/>
              <a:t>11.12.2024	tbd</a:t>
            </a:r>
          </a:p>
          <a:p>
            <a:r>
              <a:rPr lang="en-DE" dirty="0"/>
              <a:t>18.12.2024	tbd</a:t>
            </a:r>
          </a:p>
          <a:p>
            <a:r>
              <a:rPr lang="en-DE" dirty="0">
                <a:solidFill>
                  <a:schemeClr val="bg1">
                    <a:lumMod val="65000"/>
                  </a:schemeClr>
                </a:solidFill>
              </a:rPr>
              <a:t>25.12.2024	Semesterferien</a:t>
            </a:r>
          </a:p>
          <a:p>
            <a:r>
              <a:rPr lang="en-DE" dirty="0">
                <a:solidFill>
                  <a:schemeClr val="bg1">
                    <a:lumMod val="65000"/>
                  </a:schemeClr>
                </a:solidFill>
              </a:rPr>
              <a:t>01.01.2024	Semesterferien</a:t>
            </a:r>
          </a:p>
          <a:p>
            <a:r>
              <a:rPr lang="en-DE" dirty="0"/>
              <a:t>08.01.2024	tbd</a:t>
            </a:r>
          </a:p>
          <a:p>
            <a:r>
              <a:rPr lang="en-DE" dirty="0"/>
              <a:t>15.01.2024	tbd</a:t>
            </a:r>
          </a:p>
          <a:p>
            <a:r>
              <a:rPr lang="en-DE" dirty="0"/>
              <a:t>22.01.2024	tbd</a:t>
            </a:r>
          </a:p>
          <a:p>
            <a:r>
              <a:rPr lang="en-DE" dirty="0"/>
              <a:t>29.01.2024	</a:t>
            </a:r>
            <a:r>
              <a:rPr lang="en-DE" dirty="0">
                <a:solidFill>
                  <a:schemeClr val="bg1">
                    <a:lumMod val="50000"/>
                  </a:schemeClr>
                </a:solidFill>
              </a:rPr>
              <a:t>letzter regulärer Termin</a:t>
            </a:r>
          </a:p>
          <a:p>
            <a:r>
              <a:rPr lang="en-DE" dirty="0"/>
              <a:t>31.01.2024	Abgabe/Projektende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1DD3026-EF9D-CF80-D627-F0B60ADB6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B260B-9787-2941-BD6E-E8B8AEB1B5A8}" type="datetime1">
              <a:rPr lang="de-DE" smtClean="0"/>
              <a:t>22.10.24</a:t>
            </a:fld>
            <a:endParaRPr lang="en-DE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E7915B9-57F6-6946-33F2-79DD8B851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1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865830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16A49187-2370-3FA5-6434-FDD93EF9AB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715" y="2316777"/>
            <a:ext cx="7239000" cy="1524000"/>
          </a:xfrm>
          <a:prstGeom prst="rect">
            <a:avLst/>
          </a:prstGeom>
        </p:spPr>
      </p:pic>
      <p:sp>
        <p:nvSpPr>
          <p:cNvPr id="97" name="CustomShape 1"/>
          <p:cNvSpPr/>
          <p:nvPr/>
        </p:nvSpPr>
        <p:spPr>
          <a:xfrm>
            <a:off x="457200" y="699120"/>
            <a:ext cx="7883280" cy="46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0" strike="noStrike" spc="-1" dirty="0" err="1">
                <a:solidFill>
                  <a:srgbClr val="000000"/>
                </a:solidFill>
                <a:latin typeface="TheSans UHH Bold"/>
                <a:ea typeface="DejaVu Sans"/>
              </a:rPr>
              <a:t>Arbeitsprämissen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6AF738-50B7-26F5-9D5A-2A1C5983F38D}"/>
              </a:ext>
            </a:extLst>
          </p:cNvPr>
          <p:cNvSpPr txBox="1"/>
          <p:nvPr/>
        </p:nvSpPr>
        <p:spPr>
          <a:xfrm>
            <a:off x="457200" y="1682496"/>
            <a:ext cx="68336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Steht fest</a:t>
            </a:r>
          </a:p>
          <a:p>
            <a:pPr marL="285750" indent="-285750">
              <a:buFontTx/>
              <a:buChar char="-"/>
            </a:pPr>
            <a:r>
              <a:rPr lang="en-DE" dirty="0"/>
              <a:t>Code-Versionierung mit Git</a:t>
            </a:r>
          </a:p>
          <a:p>
            <a:pPr marL="285750" indent="-285750">
              <a:buFontTx/>
              <a:buChar char="-"/>
            </a:pPr>
            <a:r>
              <a:rPr lang="en-GB" dirty="0" err="1"/>
              <a:t>Verwendung</a:t>
            </a:r>
            <a:r>
              <a:rPr lang="en-GB" dirty="0"/>
              <a:t> O</a:t>
            </a:r>
            <a:r>
              <a:rPr lang="en-DE" dirty="0"/>
              <a:t>penstreetmap</a:t>
            </a:r>
          </a:p>
          <a:p>
            <a:pPr marL="285750" indent="-285750">
              <a:buFontTx/>
              <a:buChar char="-"/>
            </a:pPr>
            <a:endParaRPr lang="en-D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C1F2CF-D16B-3E6C-852D-E7E310C6E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C0988-905C-AB41-86EF-B70567269C0A}" type="datetime1">
              <a:rPr lang="de-DE" smtClean="0"/>
              <a:t>22.10.24</a:t>
            </a:fld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E5D3FC-B7E0-8A2E-1E9D-7E7A6BDCA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2</a:t>
            </a:fld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FA5059-2668-71A3-4A46-1BE6E0BE4047}"/>
              </a:ext>
            </a:extLst>
          </p:cNvPr>
          <p:cNvSpPr txBox="1"/>
          <p:nvPr/>
        </p:nvSpPr>
        <p:spPr>
          <a:xfrm>
            <a:off x="457200" y="3975175"/>
            <a:ext cx="68336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Teams</a:t>
            </a:r>
          </a:p>
          <a:p>
            <a:pPr marL="285750" indent="-285750">
              <a:buFontTx/>
              <a:buChar char="-"/>
            </a:pPr>
            <a:r>
              <a:rPr lang="en-DE" dirty="0"/>
              <a:t>Backend – Mikko, Teo</a:t>
            </a:r>
          </a:p>
          <a:p>
            <a:pPr marL="285750" indent="-285750">
              <a:buFontTx/>
              <a:buChar char="-"/>
            </a:pPr>
            <a:r>
              <a:rPr lang="en-DE" dirty="0"/>
              <a:t>Control – Casper, Rasmus, Stevan</a:t>
            </a:r>
          </a:p>
          <a:p>
            <a:pPr marL="285750" indent="-285750">
              <a:buFontTx/>
              <a:buChar char="-"/>
            </a:pPr>
            <a:r>
              <a:rPr lang="en-DE" dirty="0"/>
              <a:t>Frontend – Nike, Harry</a:t>
            </a:r>
          </a:p>
          <a:p>
            <a:pPr marL="285750" indent="-285750">
              <a:buFontTx/>
              <a:buChar char="-"/>
            </a:pPr>
            <a:endParaRPr lang="en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9E152B0-E6D7-F809-7B03-53A4A5B83749}"/>
              </a:ext>
            </a:extLst>
          </p:cNvPr>
          <p:cNvSpPr txBox="1"/>
          <p:nvPr/>
        </p:nvSpPr>
        <p:spPr>
          <a:xfrm>
            <a:off x="6457950" y="3415320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Generic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CE71015-BB16-22EB-662F-B51A9AD1042A}"/>
              </a:ext>
            </a:extLst>
          </p:cNvPr>
          <p:cNvSpPr txBox="1"/>
          <p:nvPr/>
        </p:nvSpPr>
        <p:spPr>
          <a:xfrm>
            <a:off x="4056438" y="3489607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Core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AAAE687-17AE-62A7-5496-F7DD7966E1DF}"/>
              </a:ext>
            </a:extLst>
          </p:cNvPr>
          <p:cNvSpPr txBox="1"/>
          <p:nvPr/>
        </p:nvSpPr>
        <p:spPr>
          <a:xfrm>
            <a:off x="1211389" y="3429000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Supporting</a:t>
            </a:r>
            <a:endParaRPr lang="de-DE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8383-A604-97CE-B983-9C0DA4A0F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>
            <a:extLst>
              <a:ext uri="{FF2B5EF4-FFF2-40B4-BE49-F238E27FC236}">
                <a16:creationId xmlns:a16="http://schemas.microsoft.com/office/drawing/2014/main" id="{567281C1-749D-F006-EB6A-648AF1BB1889}"/>
              </a:ext>
            </a:extLst>
          </p:cNvPr>
          <p:cNvSpPr/>
          <p:nvPr/>
        </p:nvSpPr>
        <p:spPr>
          <a:xfrm>
            <a:off x="457200" y="699120"/>
            <a:ext cx="7883280" cy="46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DE" sz="2400" dirty="0"/>
              <a:t>23.10.2024 ToDo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9D73FE-A31A-6C23-F844-84094BBD570D}"/>
              </a:ext>
            </a:extLst>
          </p:cNvPr>
          <p:cNvSpPr txBox="1"/>
          <p:nvPr/>
        </p:nvSpPr>
        <p:spPr>
          <a:xfrm>
            <a:off x="457200" y="1682496"/>
            <a:ext cx="683361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effectLst/>
                <a:latin typeface="Helvetica" pitchFamily="2" charset="0"/>
              </a:rPr>
              <a:t>Team API: </a:t>
            </a:r>
          </a:p>
          <a:p>
            <a:r>
              <a:rPr lang="en-GB" dirty="0">
                <a:effectLst/>
                <a:latin typeface="Helvetica" pitchFamily="2" charset="0"/>
              </a:rPr>
              <a:t>- </a:t>
            </a:r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Daten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werden</a:t>
            </a:r>
            <a:r>
              <a:rPr lang="en-GB" dirty="0">
                <a:effectLst/>
                <a:latin typeface="Helvetica" pitchFamily="2" charset="0"/>
              </a:rPr>
              <a:t> in </a:t>
            </a:r>
            <a:r>
              <a:rPr lang="en-GB" dirty="0" err="1">
                <a:effectLst/>
                <a:latin typeface="Helvetica" pitchFamily="2" charset="0"/>
              </a:rPr>
              <a:t>welcher</a:t>
            </a:r>
            <a:r>
              <a:rPr lang="en-GB" dirty="0">
                <a:effectLst/>
                <a:latin typeface="Helvetica" pitchFamily="2" charset="0"/>
              </a:rPr>
              <a:t> Form von der ‘Traffic Lights Data Hamburg’ </a:t>
            </a:r>
            <a:r>
              <a:rPr lang="en-GB" dirty="0" err="1">
                <a:effectLst/>
                <a:latin typeface="Helvetica" pitchFamily="2" charset="0"/>
              </a:rPr>
              <a:t>bereitgestellt</a:t>
            </a:r>
            <a:r>
              <a:rPr lang="en-GB" dirty="0">
                <a:effectLst/>
                <a:latin typeface="Helvetica" pitchFamily="2" charset="0"/>
              </a:rPr>
              <a:t>? </a:t>
            </a:r>
          </a:p>
          <a:p>
            <a:r>
              <a:rPr lang="en-GB" dirty="0">
                <a:effectLst/>
                <a:latin typeface="Helvetica" pitchFamily="2" charset="0"/>
              </a:rPr>
              <a:t>- </a:t>
            </a:r>
            <a:r>
              <a:rPr lang="en-GB" dirty="0" err="1">
                <a:effectLst/>
                <a:latin typeface="Helvetica" pitchFamily="2" charset="0"/>
              </a:rPr>
              <a:t>ggf</a:t>
            </a:r>
            <a:r>
              <a:rPr lang="en-GB" dirty="0">
                <a:effectLst/>
                <a:latin typeface="Helvetica" pitchFamily="2" charset="0"/>
              </a:rPr>
              <a:t>. </a:t>
            </a:r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Zusammenhänge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gibt</a:t>
            </a:r>
            <a:r>
              <a:rPr lang="en-GB" dirty="0">
                <a:effectLst/>
                <a:latin typeface="Helvetica" pitchFamily="2" charset="0"/>
              </a:rPr>
              <a:t> es, die für das Projekt </a:t>
            </a:r>
            <a:r>
              <a:rPr lang="en-GB" dirty="0" err="1">
                <a:effectLst/>
                <a:latin typeface="Helvetica" pitchFamily="2" charset="0"/>
              </a:rPr>
              <a:t>interessant</a:t>
            </a:r>
            <a:r>
              <a:rPr lang="en-GB" dirty="0">
                <a:effectLst/>
                <a:latin typeface="Helvetica" pitchFamily="2" charset="0"/>
              </a:rPr>
              <a:t> sein </a:t>
            </a:r>
            <a:r>
              <a:rPr lang="en-GB" dirty="0" err="1">
                <a:effectLst/>
                <a:latin typeface="Helvetica" pitchFamily="2" charset="0"/>
              </a:rPr>
              <a:t>können</a:t>
            </a:r>
            <a:r>
              <a:rPr lang="en-GB" dirty="0">
                <a:effectLst/>
                <a:latin typeface="Helvetica" pitchFamily="2" charset="0"/>
              </a:rPr>
              <a:t>?</a:t>
            </a:r>
            <a:br>
              <a:rPr lang="en-GB" dirty="0">
                <a:effectLst/>
                <a:latin typeface="Helvetica" pitchFamily="2" charset="0"/>
              </a:rPr>
            </a:br>
            <a:endParaRPr lang="en-GB" dirty="0">
              <a:effectLst/>
              <a:latin typeface="Helvetica" pitchFamily="2" charset="0"/>
            </a:endParaRPr>
          </a:p>
          <a:p>
            <a:r>
              <a:rPr lang="en-GB" dirty="0">
                <a:effectLst/>
                <a:latin typeface="Helvetica" pitchFamily="2" charset="0"/>
              </a:rPr>
              <a:t>Team </a:t>
            </a:r>
            <a:r>
              <a:rPr lang="en-GB" dirty="0" err="1">
                <a:effectLst/>
                <a:latin typeface="Helvetica" pitchFamily="2" charset="0"/>
              </a:rPr>
              <a:t>Algorithmen</a:t>
            </a:r>
            <a:r>
              <a:rPr lang="en-GB" dirty="0">
                <a:effectLst/>
                <a:latin typeface="Helvetica" pitchFamily="2" charset="0"/>
              </a:rPr>
              <a:t>: </a:t>
            </a:r>
          </a:p>
          <a:p>
            <a:r>
              <a:rPr lang="en-GB" dirty="0">
                <a:effectLst/>
                <a:latin typeface="Helvetica" pitchFamily="2" charset="0"/>
              </a:rPr>
              <a:t>- </a:t>
            </a:r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(</a:t>
            </a:r>
            <a:r>
              <a:rPr lang="en-GB" dirty="0" err="1">
                <a:effectLst/>
                <a:latin typeface="Helvetica" pitchFamily="2" charset="0"/>
              </a:rPr>
              <a:t>übergeordneten</a:t>
            </a:r>
            <a:r>
              <a:rPr lang="en-GB" dirty="0">
                <a:effectLst/>
                <a:latin typeface="Helvetica" pitchFamily="2" charset="0"/>
              </a:rPr>
              <a:t>) </a:t>
            </a:r>
            <a:r>
              <a:rPr lang="en-GB" dirty="0" err="1">
                <a:effectLst/>
                <a:latin typeface="Helvetica" pitchFamily="2" charset="0"/>
              </a:rPr>
              <a:t>Funktionalitäten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soll</a:t>
            </a:r>
            <a:r>
              <a:rPr lang="en-GB" dirty="0">
                <a:effectLst/>
                <a:latin typeface="Helvetica" pitchFamily="2" charset="0"/>
              </a:rPr>
              <a:t> das </a:t>
            </a:r>
            <a:r>
              <a:rPr lang="en-GB" dirty="0" err="1">
                <a:effectLst/>
                <a:latin typeface="Helvetica" pitchFamily="2" charset="0"/>
              </a:rPr>
              <a:t>Programm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später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haben</a:t>
            </a:r>
            <a:r>
              <a:rPr lang="en-GB" dirty="0">
                <a:effectLst/>
                <a:latin typeface="Helvetica" pitchFamily="2" charset="0"/>
              </a:rPr>
              <a:t>? (Und </a:t>
            </a:r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Daten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wären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hierfür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notwendig</a:t>
            </a:r>
            <a:r>
              <a:rPr lang="en-GB" dirty="0">
                <a:effectLst/>
                <a:latin typeface="Helvetica" pitchFamily="2" charset="0"/>
              </a:rPr>
              <a:t>?)</a:t>
            </a:r>
          </a:p>
          <a:p>
            <a:r>
              <a:rPr lang="en-GB" dirty="0">
                <a:effectLst/>
                <a:latin typeface="Helvetica" pitchFamily="2" charset="0"/>
              </a:rPr>
              <a:t>- </a:t>
            </a:r>
            <a:r>
              <a:rPr lang="en-GB" dirty="0" err="1">
                <a:effectLst/>
                <a:latin typeface="Helvetica" pitchFamily="2" charset="0"/>
              </a:rPr>
              <a:t>ggf</a:t>
            </a:r>
            <a:r>
              <a:rPr lang="en-GB" dirty="0">
                <a:effectLst/>
                <a:latin typeface="Helvetica" pitchFamily="2" charset="0"/>
              </a:rPr>
              <a:t>. </a:t>
            </a:r>
            <a:r>
              <a:rPr lang="en-GB" dirty="0" err="1">
                <a:effectLst/>
                <a:latin typeface="Helvetica" pitchFamily="2" charset="0"/>
              </a:rPr>
              <a:t>gibt</a:t>
            </a:r>
            <a:r>
              <a:rPr lang="en-GB" dirty="0">
                <a:effectLst/>
                <a:latin typeface="Helvetica" pitchFamily="2" charset="0"/>
              </a:rPr>
              <a:t> es für </a:t>
            </a:r>
            <a:r>
              <a:rPr lang="en-GB" dirty="0" err="1">
                <a:effectLst/>
                <a:latin typeface="Helvetica" pitchFamily="2" charset="0"/>
              </a:rPr>
              <a:t>diese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bereits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Lösungen</a:t>
            </a:r>
            <a:r>
              <a:rPr lang="en-GB" dirty="0">
                <a:effectLst/>
                <a:latin typeface="Helvetica" pitchFamily="2" charset="0"/>
              </a:rPr>
              <a:t> (</a:t>
            </a:r>
            <a:r>
              <a:rPr lang="en-GB" dirty="0" err="1">
                <a:effectLst/>
                <a:latin typeface="Helvetica" pitchFamily="2" charset="0"/>
              </a:rPr>
              <a:t>insb</a:t>
            </a:r>
            <a:r>
              <a:rPr lang="en-GB" dirty="0">
                <a:effectLst/>
                <a:latin typeface="Helvetica" pitchFamily="2" charset="0"/>
              </a:rPr>
              <a:t>. in </a:t>
            </a:r>
            <a:r>
              <a:rPr lang="en-GB" dirty="0" err="1">
                <a:effectLst/>
                <a:latin typeface="Helvetica" pitchFamily="2" charset="0"/>
              </a:rPr>
              <a:t>Zusammenhang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mit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openstreetmap</a:t>
            </a:r>
            <a:r>
              <a:rPr lang="en-GB" dirty="0">
                <a:effectLst/>
                <a:latin typeface="Helvetica" pitchFamily="2" charset="0"/>
              </a:rPr>
              <a:t>)?</a:t>
            </a:r>
            <a:br>
              <a:rPr lang="en-GB" dirty="0">
                <a:effectLst/>
                <a:latin typeface="Helvetica" pitchFamily="2" charset="0"/>
              </a:rPr>
            </a:br>
            <a:endParaRPr lang="en-GB" dirty="0">
              <a:effectLst/>
              <a:latin typeface="Helvetica" pitchFamily="2" charset="0"/>
            </a:endParaRPr>
          </a:p>
          <a:p>
            <a:r>
              <a:rPr lang="en-GB" dirty="0">
                <a:effectLst/>
                <a:latin typeface="Helvetica" pitchFamily="2" charset="0"/>
              </a:rPr>
              <a:t>Team </a:t>
            </a:r>
            <a:r>
              <a:rPr lang="en-GB" dirty="0" err="1">
                <a:effectLst/>
                <a:latin typeface="Helvetica" pitchFamily="2" charset="0"/>
              </a:rPr>
              <a:t>Visualisierung</a:t>
            </a:r>
            <a:r>
              <a:rPr lang="en-GB" dirty="0">
                <a:effectLst/>
                <a:latin typeface="Helvetica" pitchFamily="2" charset="0"/>
              </a:rPr>
              <a:t>:</a:t>
            </a:r>
          </a:p>
          <a:p>
            <a:r>
              <a:rPr lang="en-GB" dirty="0">
                <a:effectLst/>
                <a:latin typeface="Helvetica" pitchFamily="2" charset="0"/>
              </a:rPr>
              <a:t>- </a:t>
            </a:r>
            <a:r>
              <a:rPr lang="en-GB" dirty="0" err="1">
                <a:effectLst/>
                <a:latin typeface="Helvetica" pitchFamily="2" charset="0"/>
              </a:rPr>
              <a:t>Möglichkeiten</a:t>
            </a:r>
            <a:r>
              <a:rPr lang="en-GB" dirty="0">
                <a:effectLst/>
                <a:latin typeface="Helvetica" pitchFamily="2" charset="0"/>
              </a:rPr>
              <a:t> die </a:t>
            </a:r>
            <a:r>
              <a:rPr lang="en-GB" dirty="0" err="1">
                <a:effectLst/>
                <a:latin typeface="Helvetica" pitchFamily="2" charset="0"/>
              </a:rPr>
              <a:t>openstreetmap</a:t>
            </a:r>
            <a:r>
              <a:rPr lang="en-GB" dirty="0">
                <a:effectLst/>
                <a:latin typeface="Helvetica" pitchFamily="2" charset="0"/>
              </a:rPr>
              <a:t> (</a:t>
            </a:r>
            <a:r>
              <a:rPr lang="en-GB" dirty="0" err="1">
                <a:effectLst/>
                <a:latin typeface="Helvetica" pitchFamily="2" charset="0"/>
              </a:rPr>
              <a:t>lokal</a:t>
            </a:r>
            <a:r>
              <a:rPr lang="en-GB" dirty="0">
                <a:effectLst/>
                <a:latin typeface="Helvetica" pitchFamily="2" charset="0"/>
              </a:rPr>
              <a:t>) </a:t>
            </a:r>
            <a:r>
              <a:rPr lang="en-GB" dirty="0" err="1">
                <a:effectLst/>
                <a:latin typeface="Helvetica" pitchFamily="2" charset="0"/>
              </a:rPr>
              <a:t>zu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visualisieren</a:t>
            </a:r>
            <a:endParaRPr lang="en-GB" dirty="0">
              <a:effectLst/>
              <a:latin typeface="Helvetica" pitchFamily="2" charset="0"/>
            </a:endParaRPr>
          </a:p>
          <a:p>
            <a:r>
              <a:rPr lang="en-GB" dirty="0">
                <a:effectLst/>
                <a:latin typeface="Helvetica" pitchFamily="2" charset="0"/>
              </a:rPr>
              <a:t>- </a:t>
            </a:r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Daten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könnten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visualisiert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werden</a:t>
            </a:r>
            <a:endParaRPr lang="en-GB" dirty="0">
              <a:effectLst/>
              <a:latin typeface="Helvetica" pitchFamily="2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E797F6-D789-6575-DEAD-6F02655AC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C0988-905C-AB41-86EF-B70567269C0A}" type="datetime1">
              <a:rPr lang="de-DE" smtClean="0"/>
              <a:t>22.10.24</a:t>
            </a:fld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CE117-1295-9E5C-7A73-A7DB46768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3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960253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5C4CE-3E50-4B0B-F6B1-E0EFD57DE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>
            <a:extLst>
              <a:ext uri="{FF2B5EF4-FFF2-40B4-BE49-F238E27FC236}">
                <a16:creationId xmlns:a16="http://schemas.microsoft.com/office/drawing/2014/main" id="{E09BAB65-7AC4-1896-73F6-7A6732B44A24}"/>
              </a:ext>
            </a:extLst>
          </p:cNvPr>
          <p:cNvSpPr/>
          <p:nvPr/>
        </p:nvSpPr>
        <p:spPr>
          <a:xfrm>
            <a:off x="457200" y="699120"/>
            <a:ext cx="7883280" cy="46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DE" sz="2400" dirty="0"/>
              <a:t>23.10.2024 Team API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123D3E-E481-4D0B-8A4F-D76F3B3B6E02}"/>
              </a:ext>
            </a:extLst>
          </p:cNvPr>
          <p:cNvSpPr txBox="1"/>
          <p:nvPr/>
        </p:nvSpPr>
        <p:spPr>
          <a:xfrm>
            <a:off x="457200" y="1682496"/>
            <a:ext cx="68336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Daten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werden</a:t>
            </a:r>
            <a:r>
              <a:rPr lang="en-GB" dirty="0">
                <a:effectLst/>
                <a:latin typeface="Helvetica" pitchFamily="2" charset="0"/>
              </a:rPr>
              <a:t> in </a:t>
            </a:r>
            <a:r>
              <a:rPr lang="en-GB" dirty="0" err="1">
                <a:effectLst/>
                <a:latin typeface="Helvetica" pitchFamily="2" charset="0"/>
              </a:rPr>
              <a:t>welcher</a:t>
            </a:r>
            <a:r>
              <a:rPr lang="en-GB" dirty="0">
                <a:effectLst/>
                <a:latin typeface="Helvetica" pitchFamily="2" charset="0"/>
              </a:rPr>
              <a:t> Form von der ‘Traffic Lights Data Hamburg’ </a:t>
            </a:r>
            <a:r>
              <a:rPr lang="en-GB" dirty="0" err="1">
                <a:effectLst/>
                <a:latin typeface="Helvetica" pitchFamily="2" charset="0"/>
              </a:rPr>
              <a:t>bereitgestellt</a:t>
            </a:r>
            <a:r>
              <a:rPr lang="en-GB" dirty="0">
                <a:effectLst/>
                <a:latin typeface="Helvetica" pitchFamily="2" charset="0"/>
              </a:rPr>
              <a:t>? 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96D3E7-9C41-548F-D44B-DC47473F9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C0988-905C-AB41-86EF-B70567269C0A}" type="datetime1">
              <a:rPr lang="de-DE" smtClean="0"/>
              <a:t>22.10.24</a:t>
            </a:fld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322190-5AC9-0CAC-9E10-D4029D21A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4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695262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EC99F-5327-77B1-4AC3-7254B94EC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>
            <a:extLst>
              <a:ext uri="{FF2B5EF4-FFF2-40B4-BE49-F238E27FC236}">
                <a16:creationId xmlns:a16="http://schemas.microsoft.com/office/drawing/2014/main" id="{42CD7637-DE4B-6539-F668-9ECEDE9B44CE}"/>
              </a:ext>
            </a:extLst>
          </p:cNvPr>
          <p:cNvSpPr/>
          <p:nvPr/>
        </p:nvSpPr>
        <p:spPr>
          <a:xfrm>
            <a:off x="457200" y="699120"/>
            <a:ext cx="7883280" cy="46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DE" sz="2400" dirty="0"/>
              <a:t>23.10.2024 Team Algorithmen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C4D96C-E3CC-AC00-1047-1D14C5DB0E85}"/>
              </a:ext>
            </a:extLst>
          </p:cNvPr>
          <p:cNvSpPr txBox="1"/>
          <p:nvPr/>
        </p:nvSpPr>
        <p:spPr>
          <a:xfrm>
            <a:off x="1155192" y="3105834"/>
            <a:ext cx="68336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(</a:t>
            </a:r>
            <a:r>
              <a:rPr lang="en-GB" dirty="0" err="1">
                <a:effectLst/>
                <a:latin typeface="Helvetica" pitchFamily="2" charset="0"/>
              </a:rPr>
              <a:t>übergeordneten</a:t>
            </a:r>
            <a:r>
              <a:rPr lang="en-GB" dirty="0">
                <a:effectLst/>
                <a:latin typeface="Helvetica" pitchFamily="2" charset="0"/>
              </a:rPr>
              <a:t>) </a:t>
            </a:r>
            <a:r>
              <a:rPr lang="en-GB" dirty="0" err="1">
                <a:effectLst/>
                <a:latin typeface="Helvetica" pitchFamily="2" charset="0"/>
              </a:rPr>
              <a:t>Funktionalitäten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soll</a:t>
            </a:r>
            <a:r>
              <a:rPr lang="en-GB" dirty="0">
                <a:effectLst/>
                <a:latin typeface="Helvetica" pitchFamily="2" charset="0"/>
              </a:rPr>
              <a:t> das </a:t>
            </a:r>
            <a:r>
              <a:rPr lang="en-GB" dirty="0" err="1">
                <a:effectLst/>
                <a:latin typeface="Helvetica" pitchFamily="2" charset="0"/>
              </a:rPr>
              <a:t>Programm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später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haben</a:t>
            </a:r>
            <a:r>
              <a:rPr lang="en-GB" dirty="0">
                <a:effectLst/>
                <a:latin typeface="Helvetica" pitchFamily="2" charset="0"/>
              </a:rPr>
              <a:t>? (Und </a:t>
            </a:r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Daten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wären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hierfür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notwendig</a:t>
            </a:r>
            <a:r>
              <a:rPr lang="en-GB" dirty="0">
                <a:effectLst/>
                <a:latin typeface="Helvetica" pitchFamily="2" charset="0"/>
              </a:rPr>
              <a:t>?)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AE4D9C-E0E0-5476-1BE7-F45A1093E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C0988-905C-AB41-86EF-B70567269C0A}" type="datetime1">
              <a:rPr lang="de-DE" smtClean="0"/>
              <a:t>22.10.24</a:t>
            </a:fld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8FA3F6-C001-F042-7DCE-719C9EB62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5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683514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A520D6-C392-C533-56F5-A462A04BD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Grundlegende Ideen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55FE9F-B9E2-4246-F312-31B4B6FCC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22.10.24</a:t>
            </a:fld>
            <a:endParaRPr lang="en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6A987D-E19B-C89F-E8DF-52ACB9F8D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6</a:t>
            </a:fld>
            <a:endParaRPr lang="en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248ED73-AE3A-12B4-E7F5-0FB9040DED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664" y="3043089"/>
            <a:ext cx="2755307" cy="17957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CECFFF25-0BCA-548D-72DD-6FC086C0E5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1632" y="2796139"/>
            <a:ext cx="2500736" cy="2161653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2AE8E0B-2618-61CD-E691-60873F68D43D}"/>
              </a:ext>
            </a:extLst>
          </p:cNvPr>
          <p:cNvSpPr txBox="1"/>
          <p:nvPr/>
        </p:nvSpPr>
        <p:spPr>
          <a:xfrm>
            <a:off x="3059971" y="3690784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+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EFD6AE5-73E0-50A0-57F0-6165C27701D0}"/>
              </a:ext>
            </a:extLst>
          </p:cNvPr>
          <p:cNvSpPr txBox="1"/>
          <p:nvPr/>
        </p:nvSpPr>
        <p:spPr>
          <a:xfrm>
            <a:off x="6084029" y="3692299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=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EA8E2DEF-F122-D850-CEB4-24B9271690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0891" y="3165701"/>
            <a:ext cx="2295549" cy="1501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050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70BF27-689E-75D8-3F85-ACAB4E17F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wir benötigen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A3E1FAA-314F-20BC-BCC4-733F2774D76D}"/>
              </a:ext>
            </a:extLst>
          </p:cNvPr>
          <p:cNvSpPr>
            <a:spLocks noGrp="1"/>
          </p:cNvSpPr>
          <p:nvPr>
            <p:ph type="subTitle"/>
          </p:nvPr>
        </p:nvSpPr>
        <p:spPr/>
        <p:txBody>
          <a:bodyPr/>
          <a:lstStyle/>
          <a:p>
            <a:r>
              <a:rPr lang="de-DE" dirty="0"/>
              <a:t>Vektordarstellung (gerichtet) der Straßen Hamburgs</a:t>
            </a:r>
          </a:p>
          <a:p>
            <a:r>
              <a:rPr lang="de-DE" dirty="0"/>
              <a:t>Approximative Wartezeit je Ampel an einer Straße</a:t>
            </a:r>
          </a:p>
          <a:p>
            <a:pPr lvl="1"/>
            <a:r>
              <a:rPr lang="de-DE" dirty="0"/>
              <a:t>Oder nur Daten Cluster</a:t>
            </a:r>
          </a:p>
          <a:p>
            <a:r>
              <a:rPr lang="de-DE" dirty="0"/>
              <a:t>Anforderung von Frontend für die Schnittstelle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E02DA5-06A2-6673-9853-1D2FC28F7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22.10.24</a:t>
            </a:fld>
            <a:endParaRPr lang="en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93F16DB-379B-5BCE-AE78-4195E65D4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538947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46E525-69D0-15CC-D76B-0C881277D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Funktion soll das </a:t>
            </a:r>
            <a:r>
              <a:rPr lang="de-DE" dirty="0" err="1"/>
              <a:t>Program</a:t>
            </a:r>
            <a:r>
              <a:rPr lang="de-DE" dirty="0"/>
              <a:t> haben?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13FE101-2909-EEFC-D29F-EFEBBB46CF9C}"/>
              </a:ext>
            </a:extLst>
          </p:cNvPr>
          <p:cNvSpPr>
            <a:spLocks noGrp="1"/>
          </p:cNvSpPr>
          <p:nvPr>
            <p:ph type="subTitle"/>
          </p:nvPr>
        </p:nvSpPr>
        <p:spPr/>
        <p:txBody>
          <a:bodyPr/>
          <a:lstStyle/>
          <a:p>
            <a:r>
              <a:rPr lang="de-DE" dirty="0"/>
              <a:t>Ebene 0.</a:t>
            </a:r>
          </a:p>
          <a:p>
            <a:pPr lvl="1"/>
            <a:r>
              <a:rPr lang="de-DE" dirty="0"/>
              <a:t>Zuordnen und mappen der Ampel auf entsprechende Vektordarstellung.</a:t>
            </a:r>
          </a:p>
          <a:p>
            <a:r>
              <a:rPr lang="de-DE" dirty="0"/>
              <a:t>Ebene 1.</a:t>
            </a:r>
          </a:p>
          <a:p>
            <a:pPr lvl="1"/>
            <a:r>
              <a:rPr lang="de-DE" dirty="0"/>
              <a:t>Generische Angabe einer approximierten Fahrzeit</a:t>
            </a:r>
          </a:p>
          <a:p>
            <a:pPr lvl="1"/>
            <a:r>
              <a:rPr lang="de-DE" dirty="0"/>
              <a:t>Approximierte benötigte Durchschnittsgeschwindigkeit pro Straßenabschnitt</a:t>
            </a:r>
          </a:p>
          <a:p>
            <a:r>
              <a:rPr lang="de-DE" dirty="0"/>
              <a:t>Ebene 2.</a:t>
            </a:r>
          </a:p>
          <a:p>
            <a:pPr lvl="1"/>
            <a:r>
              <a:rPr lang="de-DE" dirty="0"/>
              <a:t>Echtzeit Anpassung und Implementierung von Schaltung und Betätigung von Ampeln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3ED6E9-0D78-B7F4-E7EF-253A3CDC1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22.10.24</a:t>
            </a:fld>
            <a:endParaRPr lang="en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809B23-3B28-6BC5-EE28-E419C0973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73953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282D60-DF05-2EC7-4175-6FB8005C6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Software kann man benutzen?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9E54848-3724-91D2-3B42-F881E4E358C3}"/>
              </a:ext>
            </a:extLst>
          </p:cNvPr>
          <p:cNvSpPr>
            <a:spLocks noGrp="1"/>
          </p:cNvSpPr>
          <p:nvPr>
            <p:ph type="subTitle"/>
          </p:nvPr>
        </p:nvSpPr>
        <p:spPr/>
        <p:txBody>
          <a:bodyPr/>
          <a:lstStyle/>
          <a:p>
            <a:r>
              <a:rPr lang="de-DE" dirty="0" err="1"/>
              <a:t>Pythonroutenplaner</a:t>
            </a:r>
            <a:r>
              <a:rPr lang="de-DE" dirty="0"/>
              <a:t> bereits implementiert in OSM</a:t>
            </a:r>
          </a:p>
          <a:p>
            <a:r>
              <a:rPr lang="de-DE" dirty="0" err="1"/>
              <a:t>Openrouteservice</a:t>
            </a:r>
            <a:endParaRPr lang="de-DE" dirty="0"/>
          </a:p>
          <a:p>
            <a:pPr lvl="1"/>
            <a:r>
              <a:rPr lang="de-DE" dirty="0"/>
              <a:t>Liefert direkt Matrix- und Vektordarstellung</a:t>
            </a:r>
          </a:p>
          <a:p>
            <a:r>
              <a:rPr lang="de-DE" dirty="0"/>
              <a:t>Pyroutelib2</a:t>
            </a:r>
          </a:p>
          <a:p>
            <a:pPr lvl="1"/>
            <a:r>
              <a:rPr lang="de-DE" dirty="0"/>
              <a:t>Simple Struktur</a:t>
            </a:r>
          </a:p>
          <a:p>
            <a:pPr lvl="1"/>
            <a:r>
              <a:rPr lang="de-DE" dirty="0"/>
              <a:t>Einfach erweiterbar</a:t>
            </a:r>
          </a:p>
          <a:p>
            <a:pPr lvl="1"/>
            <a:r>
              <a:rPr lang="de-DE" dirty="0"/>
              <a:t>CSV Output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89A310E-86E1-D42F-E58D-A7BC2A781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22.10.24</a:t>
            </a:fld>
            <a:endParaRPr lang="en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3247F1F-3C84-FE7E-92CE-1C42B5DA7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426525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F6D26-5A50-8993-25E9-810FC265B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Pyroutelib2-route.py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8D4E00D-11F6-C995-874E-A950660F1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22.10.24</a:t>
            </a:fld>
            <a:endParaRPr lang="en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509AB43-04D2-2833-8602-E6FFEFF28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10</a:t>
            </a:fld>
            <a:endParaRPr lang="en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CF45F9B-1A39-838E-149B-7EE71ABFC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182" y="1418400"/>
            <a:ext cx="5629275" cy="5020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760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1BAD64-3A7E-976B-BF22-93BF6B76A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Pyroutelib2-route.py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CBA799-EDBD-D537-D083-C0EF58358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22.10.24</a:t>
            </a:fld>
            <a:endParaRPr lang="en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A16E5CD-D72A-FB85-1954-F3B9D45AB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11</a:t>
            </a:fld>
            <a:endParaRPr lang="en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7C00FB5-945D-E4BF-0E82-D569A3309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72" y="1981200"/>
            <a:ext cx="8370856" cy="3161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480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71303-0FCE-DA02-7DE4-706BA33E2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>
            <a:extLst>
              <a:ext uri="{FF2B5EF4-FFF2-40B4-BE49-F238E27FC236}">
                <a16:creationId xmlns:a16="http://schemas.microsoft.com/office/drawing/2014/main" id="{9F5AF313-AE81-79FA-5742-52D5EBF4783B}"/>
              </a:ext>
            </a:extLst>
          </p:cNvPr>
          <p:cNvSpPr/>
          <p:nvPr/>
        </p:nvSpPr>
        <p:spPr>
          <a:xfrm>
            <a:off x="457200" y="699120"/>
            <a:ext cx="7883280" cy="46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DE" sz="2400" dirty="0"/>
              <a:t>23.10.2024 Team Visualisierung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D21ABF-46E7-470F-8411-020A0C41F70A}"/>
              </a:ext>
            </a:extLst>
          </p:cNvPr>
          <p:cNvSpPr txBox="1"/>
          <p:nvPr/>
        </p:nvSpPr>
        <p:spPr>
          <a:xfrm>
            <a:off x="315685" y="1257953"/>
            <a:ext cx="68336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>
                <a:effectLst/>
                <a:latin typeface="Helvetica" pitchFamily="2" charset="0"/>
              </a:rPr>
              <a:t>Möglichkeit</a:t>
            </a:r>
            <a:r>
              <a:rPr lang="en-GB" dirty="0">
                <a:effectLst/>
                <a:latin typeface="Helvetica" pitchFamily="2" charset="0"/>
              </a:rPr>
              <a:t> die </a:t>
            </a:r>
            <a:r>
              <a:rPr lang="en-GB" dirty="0" err="1">
                <a:effectLst/>
                <a:latin typeface="Helvetica" pitchFamily="2" charset="0"/>
              </a:rPr>
              <a:t>openstreetmap</a:t>
            </a:r>
            <a:r>
              <a:rPr lang="en-GB" dirty="0">
                <a:effectLst/>
                <a:latin typeface="Helvetica" pitchFamily="2" charset="0"/>
              </a:rPr>
              <a:t> (</a:t>
            </a:r>
            <a:r>
              <a:rPr lang="en-GB" dirty="0" err="1">
                <a:effectLst/>
                <a:latin typeface="Helvetica" pitchFamily="2" charset="0"/>
              </a:rPr>
              <a:t>lokal</a:t>
            </a:r>
            <a:r>
              <a:rPr lang="en-GB" dirty="0">
                <a:effectLst/>
                <a:latin typeface="Helvetica" pitchFamily="2" charset="0"/>
              </a:rPr>
              <a:t>) </a:t>
            </a:r>
            <a:r>
              <a:rPr lang="en-GB" dirty="0" err="1">
                <a:effectLst/>
                <a:latin typeface="Helvetica" pitchFamily="2" charset="0"/>
              </a:rPr>
              <a:t>zu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visualisieren</a:t>
            </a:r>
            <a:r>
              <a:rPr lang="en-GB" dirty="0">
                <a:effectLst/>
                <a:latin typeface="Helvetica" pitchFamily="2" charset="0"/>
              </a:rPr>
              <a:t>:</a:t>
            </a:r>
          </a:p>
          <a:p>
            <a:endParaRPr lang="en-GB" dirty="0"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Helvetica" pitchFamily="2" charset="0"/>
              </a:rPr>
              <a:t>Dash Leaflet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effectLst/>
              <a:latin typeface="Helvetica" pitchFamily="2" charset="0"/>
            </a:endParaRPr>
          </a:p>
          <a:p>
            <a:endParaRPr lang="en-GB" dirty="0">
              <a:effectLst/>
              <a:latin typeface="Helvetica" pitchFamily="2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98A1C1-C6E3-36DB-1A7D-C511DC467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C0988-905C-AB41-86EF-B70567269C0A}" type="datetime1">
              <a:rPr lang="de-DE" smtClean="0"/>
              <a:t>22.10.24</a:t>
            </a:fld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8A319-FC07-1A9E-C96D-E7A13789C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12</a:t>
            </a:fld>
            <a:endParaRPr lang="en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5263E0A-412E-3C4F-B582-C901BC8012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800" y="2101850"/>
            <a:ext cx="8966200" cy="425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802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0A2175-6F92-4C48-9E56-48E77A349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22.10.24</a:t>
            </a:fld>
            <a:endParaRPr lang="en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27DB8E8-EED7-FB44-AE82-294C967D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13</a:t>
            </a:fld>
            <a:endParaRPr lang="en-DE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D6AEF025-CA2B-214A-9B2B-DFEB36D69978}"/>
              </a:ext>
            </a:extLst>
          </p:cNvPr>
          <p:cNvSpPr txBox="1"/>
          <p:nvPr/>
        </p:nvSpPr>
        <p:spPr>
          <a:xfrm>
            <a:off x="457200" y="1682496"/>
            <a:ext cx="683361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Helvetica" pitchFamily="2" charset="0"/>
              </a:rPr>
              <a:t>Schnittstellen</a:t>
            </a:r>
            <a:r>
              <a:rPr lang="en-GB" dirty="0">
                <a:latin typeface="Helvetica" pitchFamily="2" charset="0"/>
              </a:rPr>
              <a:t>: CSV, </a:t>
            </a:r>
            <a:r>
              <a:rPr lang="en-GB" dirty="0" err="1">
                <a:latin typeface="Helvetica" pitchFamily="2" charset="0"/>
              </a:rPr>
              <a:t>geoJson</a:t>
            </a:r>
            <a:endParaRPr lang="en-GB" dirty="0">
              <a:latin typeface="Helvetica" pitchFamily="2" charset="0"/>
            </a:endParaRPr>
          </a:p>
          <a:p>
            <a:endParaRPr lang="en-GB" dirty="0">
              <a:latin typeface="Helvetica" pitchFamily="2" charset="0"/>
            </a:endParaRPr>
          </a:p>
          <a:p>
            <a:r>
              <a:rPr lang="en-GB" dirty="0" err="1">
                <a:latin typeface="Helvetica" pitchFamily="2" charset="0"/>
              </a:rPr>
              <a:t>Welche</a:t>
            </a:r>
            <a:r>
              <a:rPr lang="en-GB" dirty="0">
                <a:latin typeface="Helvetica" pitchFamily="2" charset="0"/>
              </a:rPr>
              <a:t> </a:t>
            </a:r>
            <a:r>
              <a:rPr lang="en-GB" dirty="0" err="1">
                <a:latin typeface="Helvetica" pitchFamily="2" charset="0"/>
              </a:rPr>
              <a:t>Daten</a:t>
            </a:r>
            <a:r>
              <a:rPr lang="en-GB" dirty="0">
                <a:latin typeface="Helvetica" pitchFamily="2" charset="0"/>
              </a:rPr>
              <a:t> </a:t>
            </a:r>
            <a:r>
              <a:rPr lang="en-GB" dirty="0" err="1">
                <a:latin typeface="Helvetica" pitchFamily="2" charset="0"/>
              </a:rPr>
              <a:t>könnten</a:t>
            </a:r>
            <a:r>
              <a:rPr lang="en-GB" dirty="0">
                <a:latin typeface="Helvetica" pitchFamily="2" charset="0"/>
              </a:rPr>
              <a:t> </a:t>
            </a:r>
            <a:r>
              <a:rPr lang="en-GB" dirty="0" err="1">
                <a:latin typeface="Helvetica" pitchFamily="2" charset="0"/>
              </a:rPr>
              <a:t>dargstellt</a:t>
            </a:r>
            <a:r>
              <a:rPr lang="en-GB" dirty="0">
                <a:latin typeface="Helvetica" pitchFamily="2" charset="0"/>
              </a:rPr>
              <a:t> </a:t>
            </a:r>
            <a:r>
              <a:rPr lang="en-GB" dirty="0" err="1">
                <a:latin typeface="Helvetica" pitchFamily="2" charset="0"/>
              </a:rPr>
              <a:t>werden</a:t>
            </a:r>
            <a:r>
              <a:rPr lang="en-GB" dirty="0">
                <a:latin typeface="Helvetica" pitchFamily="2" charset="0"/>
              </a:rPr>
              <a:t>?</a:t>
            </a:r>
          </a:p>
          <a:p>
            <a:pPr marL="285750" indent="-285750">
              <a:buFontTx/>
              <a:buChar char="-"/>
            </a:pPr>
            <a:r>
              <a:rPr lang="en-GB" dirty="0">
                <a:effectLst/>
                <a:latin typeface="Helvetica" pitchFamily="2" charset="0"/>
              </a:rPr>
              <a:t>“live” </a:t>
            </a:r>
            <a:r>
              <a:rPr lang="en-GB" dirty="0" err="1">
                <a:effectLst/>
                <a:latin typeface="Helvetica" pitchFamily="2" charset="0"/>
              </a:rPr>
              <a:t>Ampel</a:t>
            </a:r>
            <a:r>
              <a:rPr lang="en-GB" dirty="0">
                <a:effectLst/>
                <a:latin typeface="Helvetica" pitchFamily="2" charset="0"/>
              </a:rPr>
              <a:t> + </a:t>
            </a:r>
            <a:r>
              <a:rPr lang="en-GB" dirty="0" err="1">
                <a:effectLst/>
                <a:latin typeface="Helvetica" pitchFamily="2" charset="0"/>
              </a:rPr>
              <a:t>Geschwindigkeit</a:t>
            </a:r>
            <a:endParaRPr lang="en-GB" dirty="0">
              <a:effectLst/>
              <a:latin typeface="Helvetica" pitchFamily="2" charset="0"/>
            </a:endParaRPr>
          </a:p>
          <a:p>
            <a:pPr marL="285750" indent="-285750">
              <a:buFontTx/>
              <a:buChar char="-"/>
            </a:pPr>
            <a:r>
              <a:rPr lang="en-GB" dirty="0" err="1">
                <a:latin typeface="Helvetica" pitchFamily="2" charset="0"/>
              </a:rPr>
              <a:t>Tempolimit</a:t>
            </a:r>
            <a:endParaRPr lang="en-GB" dirty="0">
              <a:latin typeface="Helvetica" pitchFamily="2" charset="0"/>
            </a:endParaRPr>
          </a:p>
          <a:p>
            <a:pPr marL="285750" indent="-285750">
              <a:buFontTx/>
              <a:buChar char="-"/>
            </a:pPr>
            <a:r>
              <a:rPr lang="en-GB" dirty="0" err="1">
                <a:latin typeface="Helvetica" pitchFamily="2" charset="0"/>
              </a:rPr>
              <a:t>Zeitpunkt</a:t>
            </a:r>
            <a:r>
              <a:rPr lang="en-GB" dirty="0">
                <a:latin typeface="Helvetica" pitchFamily="2" charset="0"/>
              </a:rPr>
              <a:t> der </a:t>
            </a:r>
            <a:r>
              <a:rPr lang="en-GB" dirty="0" err="1">
                <a:latin typeface="Helvetica" pitchFamily="2" charset="0"/>
              </a:rPr>
              <a:t>Ampelschaltung</a:t>
            </a:r>
            <a:r>
              <a:rPr lang="en-GB" dirty="0">
                <a:latin typeface="Helvetica" pitchFamily="2" charset="0"/>
              </a:rPr>
              <a:t> </a:t>
            </a:r>
          </a:p>
          <a:p>
            <a:pPr marL="285750" indent="-285750">
              <a:buFontTx/>
              <a:buChar char="-"/>
            </a:pPr>
            <a:r>
              <a:rPr lang="en-GB" dirty="0" err="1">
                <a:effectLst/>
                <a:latin typeface="Helvetica" pitchFamily="2" charset="0"/>
              </a:rPr>
              <a:t>Geschwin</a:t>
            </a:r>
            <a:r>
              <a:rPr lang="en-GB" dirty="0" err="1">
                <a:latin typeface="Helvetica" pitchFamily="2" charset="0"/>
              </a:rPr>
              <a:t>digkeitsbereich</a:t>
            </a:r>
            <a:r>
              <a:rPr lang="en-GB" dirty="0">
                <a:latin typeface="Helvetica" pitchFamily="2" charset="0"/>
              </a:rPr>
              <a:t>, um </a:t>
            </a:r>
            <a:r>
              <a:rPr lang="en-GB" dirty="0" err="1">
                <a:latin typeface="Helvetica" pitchFamily="2" charset="0"/>
              </a:rPr>
              <a:t>Grün</a:t>
            </a:r>
            <a:r>
              <a:rPr lang="en-GB" dirty="0">
                <a:latin typeface="Helvetica" pitchFamily="2" charset="0"/>
              </a:rPr>
              <a:t> </a:t>
            </a:r>
            <a:r>
              <a:rPr lang="en-GB" dirty="0" err="1">
                <a:latin typeface="Helvetica" pitchFamily="2" charset="0"/>
              </a:rPr>
              <a:t>zu</a:t>
            </a:r>
            <a:r>
              <a:rPr lang="en-GB" dirty="0">
                <a:latin typeface="Helvetica" pitchFamily="2" charset="0"/>
              </a:rPr>
              <a:t> </a:t>
            </a:r>
            <a:r>
              <a:rPr lang="en-GB" dirty="0" err="1">
                <a:latin typeface="Helvetica" pitchFamily="2" charset="0"/>
              </a:rPr>
              <a:t>erreichen</a:t>
            </a:r>
            <a:endParaRPr lang="en-GB" dirty="0">
              <a:latin typeface="Helvetica" pitchFamily="2" charset="0"/>
            </a:endParaRPr>
          </a:p>
          <a:p>
            <a:endParaRPr lang="en-GB" dirty="0">
              <a:effectLst/>
              <a:latin typeface="Helvetica" pitchFamily="2" charset="0"/>
            </a:endParaRPr>
          </a:p>
          <a:p>
            <a:pPr marL="285750" indent="-285750">
              <a:buFontTx/>
              <a:buChar char="-"/>
            </a:pPr>
            <a:r>
              <a:rPr lang="en-GB" dirty="0" err="1">
                <a:latin typeface="Helvetica" pitchFamily="2" charset="0"/>
              </a:rPr>
              <a:t>Routenplanung</a:t>
            </a:r>
            <a:r>
              <a:rPr lang="en-GB" dirty="0">
                <a:latin typeface="Helvetica" pitchFamily="2" charset="0"/>
              </a:rPr>
              <a:t>: </a:t>
            </a:r>
            <a:r>
              <a:rPr lang="en-GB" dirty="0" err="1">
                <a:latin typeface="Helvetica" pitchFamily="2" charset="0"/>
              </a:rPr>
              <a:t>Fahre</a:t>
            </a:r>
            <a:r>
              <a:rPr lang="en-GB" dirty="0">
                <a:latin typeface="Helvetica" pitchFamily="2" charset="0"/>
              </a:rPr>
              <a:t> </a:t>
            </a:r>
            <a:r>
              <a:rPr lang="en-GB" dirty="0" err="1">
                <a:latin typeface="Helvetica" pitchFamily="2" charset="0"/>
              </a:rPr>
              <a:t>danach</a:t>
            </a:r>
            <a:r>
              <a:rPr lang="en-GB" dirty="0">
                <a:latin typeface="Helvetica" pitchFamily="2" charset="0"/>
              </a:rPr>
              <a:t> ... </a:t>
            </a:r>
          </a:p>
          <a:p>
            <a:endParaRPr lang="en-GB" dirty="0">
              <a:effectLst/>
              <a:latin typeface="Helvetica" pitchFamily="2" charset="0"/>
            </a:endParaRPr>
          </a:p>
          <a:p>
            <a:r>
              <a:rPr lang="en-GB" dirty="0">
                <a:latin typeface="Helvetica" pitchFamily="2" charset="0"/>
              </a:rPr>
              <a:t>- </a:t>
            </a:r>
            <a:r>
              <a:rPr lang="en-GB" dirty="0" err="1">
                <a:latin typeface="Helvetica" pitchFamily="2" charset="0"/>
              </a:rPr>
              <a:t>grober</a:t>
            </a:r>
            <a:r>
              <a:rPr lang="en-GB" dirty="0">
                <a:latin typeface="Helvetica" pitchFamily="2" charset="0"/>
              </a:rPr>
              <a:t> </a:t>
            </a:r>
            <a:r>
              <a:rPr lang="en-GB" dirty="0" err="1">
                <a:latin typeface="Helvetica" pitchFamily="2" charset="0"/>
              </a:rPr>
              <a:t>Fortschritt</a:t>
            </a:r>
            <a:r>
              <a:rPr lang="en-GB" dirty="0">
                <a:latin typeface="Helvetica" pitchFamily="2" charset="0"/>
              </a:rPr>
              <a:t> </a:t>
            </a:r>
            <a:r>
              <a:rPr lang="en-GB" dirty="0" err="1">
                <a:latin typeface="Helvetica" pitchFamily="2" charset="0"/>
              </a:rPr>
              <a:t>zur</a:t>
            </a:r>
            <a:r>
              <a:rPr lang="en-GB" dirty="0">
                <a:latin typeface="Helvetica" pitchFamily="2" charset="0"/>
              </a:rPr>
              <a:t> </a:t>
            </a:r>
            <a:r>
              <a:rPr lang="en-GB" dirty="0" err="1">
                <a:latin typeface="Helvetica" pitchFamily="2" charset="0"/>
              </a:rPr>
              <a:t>Ampel</a:t>
            </a:r>
            <a:endParaRPr lang="en-GB" dirty="0">
              <a:effectLst/>
              <a:latin typeface="Helvetica" pitchFamily="2" charset="0"/>
            </a:endParaRPr>
          </a:p>
          <a:p>
            <a:pPr marL="285750" indent="-285750">
              <a:buFontTx/>
              <a:buChar char="-"/>
            </a:pPr>
            <a:endParaRPr lang="en-GB" dirty="0">
              <a:effectLst/>
              <a:latin typeface="Helvetica" pitchFamily="2" charset="0"/>
            </a:endParaRPr>
          </a:p>
          <a:p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Daten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könnten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visualisiert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werden</a:t>
            </a:r>
            <a:r>
              <a:rPr lang="en-GB" dirty="0">
                <a:effectLst/>
                <a:latin typeface="Helvetica" pitchFamily="2" charset="0"/>
              </a:rPr>
              <a:t>?</a:t>
            </a:r>
          </a:p>
          <a:p>
            <a:pPr marL="285750" indent="-285750">
              <a:buFontTx/>
              <a:buChar char="-"/>
            </a:pPr>
            <a:r>
              <a:rPr lang="en-GB" dirty="0" err="1">
                <a:latin typeface="Helvetica" pitchFamily="2" charset="0"/>
              </a:rPr>
              <a:t>Standort</a:t>
            </a:r>
            <a:endParaRPr lang="en-GB" dirty="0">
              <a:latin typeface="Helvetica" pitchFamily="2" charset="0"/>
            </a:endParaRPr>
          </a:p>
          <a:p>
            <a:pPr marL="285750" indent="-285750">
              <a:buFontTx/>
              <a:buChar char="-"/>
            </a:pPr>
            <a:r>
              <a:rPr lang="en-GB" dirty="0" err="1">
                <a:effectLst/>
                <a:latin typeface="Helvetica" pitchFamily="2" charset="0"/>
              </a:rPr>
              <a:t>Pfad</a:t>
            </a:r>
            <a:endParaRPr lang="en-GB" dirty="0">
              <a:effectLst/>
              <a:latin typeface="Helvetica" pitchFamily="2" charset="0"/>
            </a:endParaRPr>
          </a:p>
          <a:p>
            <a:pPr marL="285750" indent="-285750">
              <a:buFontTx/>
              <a:buChar char="-"/>
            </a:pPr>
            <a:r>
              <a:rPr lang="en-GB" dirty="0" err="1">
                <a:latin typeface="Helvetica" pitchFamily="2" charset="0"/>
              </a:rPr>
              <a:t>Ampeln</a:t>
            </a:r>
            <a:endParaRPr lang="en-GB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4474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434</Words>
  <Application>Microsoft Macintosh PowerPoint</Application>
  <PresentationFormat>Bildschirmpräsentation (4:3)</PresentationFormat>
  <Paragraphs>117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10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14</vt:i4>
      </vt:variant>
    </vt:vector>
  </HeadingPairs>
  <TitlesOfParts>
    <vt:vector size="26" baseType="lpstr">
      <vt:lpstr>Aptos</vt:lpstr>
      <vt:lpstr>Arial</vt:lpstr>
      <vt:lpstr>DejaVu Sans</vt:lpstr>
      <vt:lpstr>Helvetica</vt:lpstr>
      <vt:lpstr>Symbol</vt:lpstr>
      <vt:lpstr>TheSans UHH Bold</vt:lpstr>
      <vt:lpstr>TheSans UHH Bold Caps</vt:lpstr>
      <vt:lpstr>TheSans UHH Regular</vt:lpstr>
      <vt:lpstr>TheSans UHH SemiLight Caps</vt:lpstr>
      <vt:lpstr>Wingdings</vt:lpstr>
      <vt:lpstr>Office Theme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Grundlegende Ideen</vt:lpstr>
      <vt:lpstr>Was wir benötigen</vt:lpstr>
      <vt:lpstr>Welche Funktion soll das Program haben?</vt:lpstr>
      <vt:lpstr>Welche Software kann man benutzen?</vt:lpstr>
      <vt:lpstr>Pyroutelib2-route.py</vt:lpstr>
      <vt:lpstr>Pyroutelib2-route.py</vt:lpstr>
      <vt:lpstr>PowerPoint-Präsentation</vt:lpstr>
      <vt:lpstr>PowerPoint-Präsentation</vt:lpstr>
    </vt:vector>
  </TitlesOfParts>
  <Company>blum design und kommunikation GmbH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Eike Hilgendorff</dc:creator>
  <dc:description/>
  <cp:lastModifiedBy>Microsoft Office User</cp:lastModifiedBy>
  <cp:revision>271</cp:revision>
  <dcterms:created xsi:type="dcterms:W3CDTF">2016-03-24T14:49:53Z</dcterms:created>
  <dcterms:modified xsi:type="dcterms:W3CDTF">2024-10-22T14:33:29Z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false</vt:bool>
  </property>
  <property fmtid="{D5CDD505-2E9C-101B-9397-08002B2CF9AE}" pid="4" name="LinksUpToDate">
    <vt:bool>false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Bildschirmpräsentation (4:3)</vt:lpwstr>
  </property>
  <property fmtid="{D5CDD505-2E9C-101B-9397-08002B2CF9AE}" pid="8" name="ScaleCrop">
    <vt:bool>false</vt:bool>
  </property>
  <property fmtid="{D5CDD505-2E9C-101B-9397-08002B2CF9AE}" pid="9" name="ShareDoc">
    <vt:bool>false</vt:bool>
  </property>
  <property fmtid="{D5CDD505-2E9C-101B-9397-08002B2CF9AE}" pid="10" name="Slides">
    <vt:i4>22</vt:i4>
  </property>
</Properties>
</file>