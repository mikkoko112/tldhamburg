
<file path=[Content_Types].xml><?xml version="1.0" encoding="utf-8"?>
<Types xmlns="http://schemas.openxmlformats.org/package/2006/content-types"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>
  <p:sldMasterIdLst>
    <p:sldMasterId id="2147483648" r:id="rId1"/>
    <p:sldMasterId id="2147483661" r:id="rId2"/>
  </p:sldMasterIdLst>
  <p:notesMasterIdLst>
    <p:notesMasterId r:id="rId10"/>
  </p:notesMasterIdLst>
  <p:handoutMasterIdLst>
    <p:handoutMasterId r:id="rId11"/>
  </p:handoutMasterIdLst>
  <p:sldIdLst>
    <p:sldId id="256" r:id="rId3"/>
    <p:sldId id="258" r:id="rId4"/>
    <p:sldId id="257" r:id="rId5"/>
    <p:sldId id="259" r:id="rId6"/>
    <p:sldId id="260" r:id="rId7"/>
    <p:sldId id="261" r:id="rId8"/>
    <p:sldId id="262" r:id="rId9"/>
  </p:sldIdLst>
  <p:sldSz cx="9144000" cy="6858000" type="screen4x3"/>
  <p:notesSz cx="7772400" cy="10058400"/>
  <p:defaultTextStyle>
    <a:defPPr>
      <a:defRPr lang="en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683"/>
    <p:restoredTop sz="94737"/>
  </p:normalViewPr>
  <p:slideViewPr>
    <p:cSldViewPr snapToGrid="0">
      <p:cViewPr varScale="1">
        <p:scale>
          <a:sx n="105" d="100"/>
          <a:sy n="105" d="100"/>
        </p:scale>
        <p:origin x="432" y="-1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7" d="100"/>
          <a:sy n="77" d="100"/>
        </p:scale>
        <p:origin x="2480" y="1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4853A66-3AD6-71EB-6035-90C4480159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671F66-5C17-7B37-5A25-59CBBF7954D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402138" y="0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AB800C-305E-2C41-8096-0EDBE764B1AF}" type="datetimeFigureOut">
              <a:rPr lang="en-DE" smtClean="0"/>
              <a:t>16.10.24</a:t>
            </a:fld>
            <a:endParaRPr lang="en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8E5F4B-5799-09D7-6746-A944DBA25CE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553575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4E9EA6-CB16-02F6-2358-9E71D22C3B8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402138" y="9553575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D7E029-301A-A64B-8B81-DB73CD4A0836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53307623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402138" y="0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2A31B7-B52A-AE43-A408-51D438091011}" type="datetimeFigureOut">
              <a:rPr lang="en-DE" smtClean="0"/>
              <a:t>16.10.24</a:t>
            </a:fld>
            <a:endParaRPr lang="en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624013" y="1257300"/>
            <a:ext cx="4524375" cy="3394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77875" y="4840288"/>
            <a:ext cx="6216650" cy="39608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553575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402138" y="9553575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D91CA9-4EA3-AF47-8B3F-ADB35F2089EB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374592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E6F9A84-A7CA-7C49-9670-9B94C217AC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C9D13-9386-5F42-819D-64F68B7EC33E}" type="datetime1">
              <a:rPr lang="de-DE" smtClean="0"/>
              <a:t>16.10.24</a:t>
            </a:fld>
            <a:endParaRPr lang="en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FBF1CE-2B4D-4185-8B4E-A53E9193AB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1A9CD8-9DA0-A81E-14F6-C4ED5F6D2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0C47E-6ED7-0A43-8B18-8C65B1973209}" type="slidenum">
              <a:rPr lang="en-DE" smtClean="0"/>
              <a:t>‹#›</a:t>
            </a:fld>
            <a:endParaRPr lang="en-D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09B91AC-1804-0451-E4FE-5E44F63CFF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64747-FE93-C348-B38C-977650B50862}" type="datetime1">
              <a:rPr lang="de-DE" smtClean="0"/>
              <a:t>16.10.24</a:t>
            </a:fld>
            <a:endParaRPr lang="en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7D6D472-2CB9-1B65-3EFE-527FF7BD2E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FC106A-EFC0-8A97-D6B9-F75A5EF31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0C47E-6ED7-0A43-8B18-8C65B1973209}" type="slidenum">
              <a:rPr lang="en-DE" smtClean="0"/>
              <a:t>‹#›</a:t>
            </a:fld>
            <a:endParaRPr lang="en-D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760F3F-A17C-8961-05AC-A060307741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A625C0-B810-4042-A60B-CD0C68D4A602}" type="datetime1">
              <a:rPr lang="de-DE" smtClean="0"/>
              <a:t>16.10.24</a:t>
            </a:fld>
            <a:endParaRPr lang="en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98CD51E-871B-D667-B559-996E1F8CD6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BA8D61-15AB-A19C-F686-6363B654C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0C47E-6ED7-0A43-8B18-8C65B1973209}" type="slidenum">
              <a:rPr lang="en-DE" smtClean="0"/>
              <a:t>‹#›</a:t>
            </a:fld>
            <a:endParaRPr lang="en-D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7075294-DB22-AD8F-3DD5-BEC3489855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B706D-46CB-4945-98A8-83DD4363C0CC}" type="datetime1">
              <a:rPr lang="de-DE" smtClean="0"/>
              <a:t>16.10.24</a:t>
            </a:fld>
            <a:endParaRPr lang="en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47E4F74-4F3F-5168-3385-B92235A40B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CDCE07-B902-AF26-D7D0-24093B09E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0C47E-6ED7-0A43-8B18-8C65B1973209}" type="slidenum">
              <a:rPr lang="en-DE" smtClean="0"/>
              <a:t>‹#›</a:t>
            </a:fld>
            <a:endParaRPr lang="en-D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0E46ADE-5361-9E69-D54B-E4B24972B3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998D7-97AC-4645-9850-2BABD1A4FF50}" type="datetime1">
              <a:rPr lang="de-DE" smtClean="0"/>
              <a:t>16.10.24</a:t>
            </a:fld>
            <a:endParaRPr lang="en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1C81DFE-DC54-9D5F-F96E-D1DF6BEC72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349ECC-4022-57B3-05A8-7FD2A0ACD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0C47E-6ED7-0A43-8B18-8C65B1973209}" type="slidenum">
              <a:rPr lang="en-DE" smtClean="0"/>
              <a:t>‹#›</a:t>
            </a:fld>
            <a:endParaRPr lang="en-D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25B8872-7F98-3EF6-3F03-E029C01599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DEC65-F8A2-6743-8A16-0664123CA582}" type="datetime1">
              <a:rPr lang="de-DE" smtClean="0"/>
              <a:t>16.10.24</a:t>
            </a:fld>
            <a:endParaRPr lang="en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59B02FE-1F67-D1DF-D3CF-570D2AA5B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A0ADBB-B774-917D-E4A2-F0B4111E7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0C47E-6ED7-0A43-8B18-8C65B1973209}" type="slidenum">
              <a:rPr lang="en-DE" smtClean="0"/>
              <a:t>‹#›</a:t>
            </a:fld>
            <a:endParaRPr lang="en-D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F687B0C-57B5-9E4E-6CFE-FE548847AA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5A2FE-F587-8945-B5BB-F8F2B9389C3F}" type="datetime1">
              <a:rPr lang="de-DE" smtClean="0"/>
              <a:t>16.10.24</a:t>
            </a:fld>
            <a:endParaRPr lang="en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6DCCBAE-2010-FF1D-D074-05D0210F9E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AC8665-7A1C-8FBC-CE22-116CDEE8FE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0C47E-6ED7-0A43-8B18-8C65B1973209}" type="slidenum">
              <a:rPr lang="en-DE" smtClean="0"/>
              <a:t>‹#›</a:t>
            </a:fld>
            <a:endParaRPr lang="en-D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596CDE3-089C-D0B6-B577-8EC4450CA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FFF01-31BB-1349-904F-CC2DBF738C7D}" type="datetime1">
              <a:rPr lang="de-DE" smtClean="0"/>
              <a:t>16.10.24</a:t>
            </a:fld>
            <a:endParaRPr lang="en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AC55B10-3A18-6DF9-B408-4BECE74A43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6D2E94-7FAA-5D4A-032A-85DBE3BE91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0C47E-6ED7-0A43-8B18-8C65B1973209}" type="slidenum">
              <a:rPr lang="en-DE" smtClean="0"/>
              <a:t>‹#›</a:t>
            </a:fld>
            <a:endParaRPr lang="en-D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687F9B8-C839-CABD-7835-5AB79AD091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71271C-13EF-A14D-AEBE-C2523EB58D17}" type="datetime1">
              <a:rPr lang="de-DE" smtClean="0"/>
              <a:t>16.10.24</a:t>
            </a:fld>
            <a:endParaRPr lang="en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981C414-570D-54E4-7D7B-E5C59CB8B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18A16D-EBC6-788F-8220-BB75623A87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0C47E-6ED7-0A43-8B18-8C65B1973209}" type="slidenum">
              <a:rPr lang="en-DE" smtClean="0"/>
              <a:t>‹#›</a:t>
            </a:fld>
            <a:endParaRPr lang="en-D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E0D224B-60A3-3406-29D5-B05E1726DB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A4C91-0AAD-D347-8A12-A61F0BD423D4}" type="datetime1">
              <a:rPr lang="de-DE" smtClean="0"/>
              <a:t>16.10.24</a:t>
            </a:fld>
            <a:endParaRPr lang="en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3CB490-82E8-EACE-9EBC-56321C3930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6F8DB6-16E5-E189-059B-C4FBC7EA3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0C47E-6ED7-0A43-8B18-8C65B1973209}" type="slidenum">
              <a:rPr lang="en-DE" smtClean="0"/>
              <a:t>‹#›</a:t>
            </a:fld>
            <a:endParaRPr lang="en-D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8D4AA9-D3C9-E4F0-E15F-19AD224777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2998C-E1D0-3948-9C4C-A4844208B326}" type="datetime1">
              <a:rPr lang="de-DE" smtClean="0"/>
              <a:t>16.10.24</a:t>
            </a:fld>
            <a:endParaRPr lang="en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24AA004-B999-15D3-EBE6-E2EB1CC585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E6E430-DFB9-ED91-FC0D-A1CEF22FC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0C47E-6ED7-0A43-8B18-8C65B1973209}" type="slidenum">
              <a:rPr lang="en-DE" smtClean="0"/>
              <a:t>‹#›</a:t>
            </a:fld>
            <a:endParaRPr lang="en-DE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F887034-CCFA-368B-8881-3A50705580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C767A-87D7-8847-8135-03DC509387E7}" type="datetime1">
              <a:rPr lang="de-DE" smtClean="0"/>
              <a:t>16.10.24</a:t>
            </a:fld>
            <a:endParaRPr lang="en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F668F4C-A236-C6D9-6D64-4C6C07C7D5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29B809-F519-63E7-BC08-C83320F9A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0C47E-6ED7-0A43-8B18-8C65B1973209}" type="slidenum">
              <a:rPr lang="en-DE" smtClean="0"/>
              <a:t>‹#›</a:t>
            </a:fld>
            <a:endParaRPr lang="en-DE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0D1780-8562-0C20-BB25-F04E5DD7D1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79ABD-E509-A24E-B468-A7395207E925}" type="datetime1">
              <a:rPr lang="de-DE" smtClean="0"/>
              <a:t>16.10.24</a:t>
            </a:fld>
            <a:endParaRPr lang="en-DE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C832BC-2E90-3050-08BC-944A8AF823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F2CF09-4B65-5705-63DC-5FB9EB2F2F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8E9C0-692D-B340-AF6F-432654B065A1}" type="slidenum">
              <a:rPr lang="en-DE" smtClean="0"/>
              <a:t>‹#›</a:t>
            </a:fld>
            <a:endParaRPr lang="en-DE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2BF944F-A6F2-E55D-BF6F-AEDC6C6DDB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98F19-8D51-794B-8ACF-FCEE93C20526}" type="datetime1">
              <a:rPr lang="de-DE" smtClean="0"/>
              <a:t>16.10.24</a:t>
            </a:fld>
            <a:endParaRPr lang="en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91E74B4-7B12-67DA-107C-C3703531C3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348491-2F4B-1579-BDBB-A8215A7E58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8E9C0-692D-B340-AF6F-432654B065A1}" type="slidenum">
              <a:rPr lang="en-DE" smtClean="0"/>
              <a:t>‹#›</a:t>
            </a:fld>
            <a:endParaRPr lang="en-DE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31BEDD-09A9-5CDC-B089-162BEA2D25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82FD34-7F6C-EC46-AEB1-845633BA5368}" type="datetime1">
              <a:rPr lang="de-DE" smtClean="0"/>
              <a:t>16.10.24</a:t>
            </a:fld>
            <a:endParaRPr lang="en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C8F795-C420-BECF-97D8-7B15847985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C04FDB-33F4-8C32-0083-CE80E6896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8E9C0-692D-B340-AF6F-432654B065A1}" type="slidenum">
              <a:rPr lang="en-DE" smtClean="0"/>
              <a:t>‹#›</a:t>
            </a:fld>
            <a:endParaRPr lang="en-DE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BE47C05-C990-787D-7609-ADE9E2319D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D10AC-CF20-B944-9D9D-D70D31AC71E3}" type="datetime1">
              <a:rPr lang="de-DE" smtClean="0"/>
              <a:t>16.10.24</a:t>
            </a:fld>
            <a:endParaRPr lang="en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F9B4D5B-8E90-5FB7-4129-F330E9941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C0966F-B6F0-C8F8-D2A9-090174BBDA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8E9C0-692D-B340-AF6F-432654B065A1}" type="slidenum">
              <a:rPr lang="en-DE" smtClean="0"/>
              <a:t>‹#›</a:t>
            </a:fld>
            <a:endParaRPr lang="en-DE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8D941BA-16F4-7B29-A4EF-6529037861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E575B-8C89-5A46-A500-EEE867877C68}" type="datetime1">
              <a:rPr lang="de-DE" smtClean="0"/>
              <a:t>16.10.24</a:t>
            </a:fld>
            <a:endParaRPr lang="en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2968744-3636-ADEC-A791-ED39DA74F5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70B6D2-C2A4-07C8-4E1B-61D4AD188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8E9C0-692D-B340-AF6F-432654B065A1}" type="slidenum">
              <a:rPr lang="en-DE" smtClean="0"/>
              <a:t>‹#›</a:t>
            </a:fld>
            <a:endParaRPr lang="en-DE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ADD4C56-03DD-BBA0-D1C2-400A9BD67D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93AA7-5923-6A4D-8C54-7BAA40441436}" type="datetime1">
              <a:rPr lang="de-DE" smtClean="0"/>
              <a:t>16.10.24</a:t>
            </a:fld>
            <a:endParaRPr lang="en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9F2E90A-B5D3-30A6-149E-BA2F4422DE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1613FF-0548-8234-264B-912114D42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8E9C0-692D-B340-AF6F-432654B065A1}" type="slidenum">
              <a:rPr lang="en-DE" smtClean="0"/>
              <a:t>‹#›</a:t>
            </a:fld>
            <a:endParaRPr lang="en-DE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A56970E-1ABF-0A25-3755-01A2422652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820AA-6151-0C4C-B826-4FC62DBABCAE}" type="datetime1">
              <a:rPr lang="de-DE" smtClean="0"/>
              <a:t>16.10.24</a:t>
            </a:fld>
            <a:endParaRPr lang="en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FBAD3C4-C41F-15DD-1792-A0F185668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9104D3-6D52-65DC-AAA6-D474960EA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8E9C0-692D-B340-AF6F-432654B065A1}" type="slidenum">
              <a:rPr lang="en-DE" smtClean="0"/>
              <a:t>‹#›</a:t>
            </a:fld>
            <a:endParaRPr lang="en-DE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724B1B0-E5DA-8A02-FDD9-4D4B21C42A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04B49-DE67-A942-A928-C596320198E2}" type="datetime1">
              <a:rPr lang="de-DE" smtClean="0"/>
              <a:t>16.10.24</a:t>
            </a:fld>
            <a:endParaRPr lang="en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E09A8F9-9650-C36D-43CE-6E01ABBCF0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E250A1-D55B-266E-4121-F15FE4CF83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8E9C0-692D-B340-AF6F-432654B065A1}" type="slidenum">
              <a:rPr lang="en-DE" smtClean="0"/>
              <a:t>‹#›</a:t>
            </a:fld>
            <a:endParaRPr lang="en-DE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B540E32-EB29-F78F-21CB-C33D83B66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9E177-A04B-2144-839B-78BA09DD5A4B}" type="datetime1">
              <a:rPr lang="de-DE" smtClean="0"/>
              <a:t>16.10.24</a:t>
            </a:fld>
            <a:endParaRPr lang="en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49E4A4-9D20-DE80-CF39-B609B8ECA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75674A-3B30-C251-687E-D2007297C7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8E9C0-692D-B340-AF6F-432654B065A1}" type="slidenum">
              <a:rPr lang="en-DE" smtClean="0"/>
              <a:t>‹#›</a:t>
            </a:fld>
            <a:endParaRPr lang="en-DE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E1E1317-90C6-E15A-5A77-077190B4B8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89E16C-ECE5-A24A-BE33-2A36DC0B5546}" type="datetime1">
              <a:rPr lang="de-DE" smtClean="0"/>
              <a:t>16.10.24</a:t>
            </a:fld>
            <a:endParaRPr lang="en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388C16A-F3FB-95B8-10C9-E63CD43363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C893B0-3A74-F288-259F-D63FE69F1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8E9C0-692D-B340-AF6F-432654B065A1}" type="slidenum">
              <a:rPr lang="en-DE" smtClean="0"/>
              <a:t>‹#›</a:t>
            </a:fld>
            <a:endParaRPr lang="en-DE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81B9CF-245E-6588-A56F-824F53F41F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3ED3D-829E-C84D-A902-4B819A54677D}" type="datetime1">
              <a:rPr lang="de-DE" smtClean="0"/>
              <a:t>16.10.24</a:t>
            </a:fld>
            <a:endParaRPr lang="en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FC2505A-54E2-168C-7AA1-C6A0EA0E9D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BD8D42-147E-9643-12C2-4982B179D1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8E9C0-692D-B340-AF6F-432654B065A1}" type="slidenum">
              <a:rPr lang="en-DE" smtClean="0"/>
              <a:t>‹#›</a:t>
            </a:fld>
            <a:endParaRPr lang="en-DE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B0533D7-07F7-C140-63C2-7B035922AC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2F563-1640-9541-9315-7D892C0CA96C}" type="datetime1">
              <a:rPr lang="de-DE" smtClean="0"/>
              <a:t>16.10.24</a:t>
            </a:fld>
            <a:endParaRPr lang="en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EB2800-8540-D300-5791-D74E6FA40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5D1A6A-0716-A166-8156-0D8A6FA51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8E9C0-692D-B340-AF6F-432654B065A1}" type="slidenum">
              <a:rPr lang="en-DE" smtClean="0"/>
              <a:t>‹#›</a:t>
            </a:fld>
            <a:endParaRPr lang="en-D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wmf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1.w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ustomShape 1"/>
          <p:cNvSpPr/>
          <p:nvPr/>
        </p:nvSpPr>
        <p:spPr>
          <a:xfrm rot="10800000" flipV="1">
            <a:off x="54860040" y="8641440"/>
            <a:ext cx="9140400" cy="354600"/>
          </a:xfrm>
          <a:prstGeom prst="rect">
            <a:avLst/>
          </a:prstGeom>
          <a:solidFill>
            <a:srgbClr val="3B515B">
              <a:alpha val="15000"/>
            </a:srgbClr>
          </a:solidFill>
          <a:ln w="9360">
            <a:noFill/>
          </a:ln>
          <a:effectLst>
            <a:outerShdw dist="23040" dir="540000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  <a:ea typeface="DejaVu Sans"/>
            </a:endParaRPr>
          </a:p>
        </p:txBody>
      </p:sp>
      <p:pic>
        <p:nvPicPr>
          <p:cNvPr id="13" name="Bild 7"/>
          <p:cNvPicPr/>
          <p:nvPr/>
        </p:nvPicPr>
        <p:blipFill>
          <a:blip r:embed="rId14"/>
          <a:stretch/>
        </p:blipFill>
        <p:spPr>
          <a:xfrm>
            <a:off x="-380160" y="-380160"/>
            <a:ext cx="2729880" cy="1476360"/>
          </a:xfrm>
          <a:prstGeom prst="rect">
            <a:avLst/>
          </a:prstGeom>
          <a:ln w="0">
            <a:noFill/>
          </a:ln>
        </p:spPr>
      </p:pic>
      <p:sp>
        <p:nvSpPr>
          <p:cNvPr id="2" name="CustomShape 2"/>
          <p:cNvSpPr/>
          <p:nvPr/>
        </p:nvSpPr>
        <p:spPr>
          <a:xfrm>
            <a:off x="7065720" y="381960"/>
            <a:ext cx="1819080" cy="14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210"/>
              </a:spcBef>
              <a:buNone/>
            </a:pPr>
            <a:r>
              <a:rPr lang="en-US" sz="1050" b="0" strike="noStrike" spc="63">
                <a:solidFill>
                  <a:srgbClr val="000000"/>
                </a:solidFill>
                <a:latin typeface="TheSans UHH Bold Caps"/>
                <a:ea typeface="DejaVu Sans"/>
              </a:rPr>
              <a:t>MIN-Fakultät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CustomShape 3"/>
          <p:cNvSpPr/>
          <p:nvPr/>
        </p:nvSpPr>
        <p:spPr>
          <a:xfrm>
            <a:off x="7071840" y="528120"/>
            <a:ext cx="1812960" cy="164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Autofit/>
          </a:bodyPr>
          <a:lstStyle/>
          <a:p>
            <a:pPr algn="r">
              <a:lnSpc>
                <a:spcPct val="100000"/>
              </a:lnSpc>
              <a:spcBef>
                <a:spcPts val="210"/>
              </a:spcBef>
              <a:buNone/>
            </a:pPr>
            <a:r>
              <a:rPr lang="en-US" sz="1050" b="0" strike="noStrike" spc="12">
                <a:solidFill>
                  <a:srgbClr val="009CD1"/>
                </a:solidFill>
                <a:latin typeface="TheSans UHH SemiLight Caps"/>
                <a:ea typeface="DejaVu Sans"/>
              </a:rPr>
              <a:t>Zentrum für Bioinformatik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Line 4"/>
          <p:cNvSpPr/>
          <p:nvPr/>
        </p:nvSpPr>
        <p:spPr>
          <a:xfrm>
            <a:off x="0" y="1165680"/>
            <a:ext cx="9144000" cy="2880"/>
          </a:xfrm>
          <a:prstGeom prst="line">
            <a:avLst/>
          </a:prstGeom>
          <a:ln w="25560">
            <a:solidFill>
              <a:srgbClr val="009CD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2120" rIns="90000" bIns="-4212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5" name="CustomShape 5"/>
          <p:cNvSpPr/>
          <p:nvPr/>
        </p:nvSpPr>
        <p:spPr>
          <a:xfrm>
            <a:off x="3673080" y="6564960"/>
            <a:ext cx="1525320" cy="239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000" b="0" strike="noStrike" spc="-1">
                <a:solidFill>
                  <a:srgbClr val="000000"/>
                </a:solidFill>
                <a:latin typeface="TheSans UHH Regular"/>
                <a:ea typeface="DejaVu Sans"/>
              </a:rPr>
              <a:t>Prof. Dr. Matthias Rarey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CustomShape 6"/>
          <p:cNvSpPr/>
          <p:nvPr/>
        </p:nvSpPr>
        <p:spPr>
          <a:xfrm>
            <a:off x="453240" y="6543000"/>
            <a:ext cx="947520" cy="239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000" b="0" strike="noStrike" spc="-1">
                <a:solidFill>
                  <a:srgbClr val="000000"/>
                </a:solidFill>
                <a:latin typeface="TheSans UHH Regular"/>
                <a:ea typeface="DejaVu Sans"/>
              </a:rPr>
              <a:t>29 / 03 / 2019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CustomShape 7"/>
          <p:cNvSpPr/>
          <p:nvPr/>
        </p:nvSpPr>
        <p:spPr>
          <a:xfrm>
            <a:off x="8474400" y="6540480"/>
            <a:ext cx="554040" cy="239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8" name="CustomShape 8"/>
          <p:cNvSpPr/>
          <p:nvPr/>
        </p:nvSpPr>
        <p:spPr>
          <a:xfrm>
            <a:off x="0" y="1463760"/>
            <a:ext cx="9140400" cy="4951440"/>
          </a:xfrm>
          <a:prstGeom prst="rect">
            <a:avLst/>
          </a:prstGeom>
          <a:solidFill>
            <a:srgbClr val="10243E"/>
          </a:solidFill>
          <a:ln w="9360">
            <a:noFill/>
          </a:ln>
          <a:effectLst>
            <a:outerShdw dist="23040" dir="540000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9" name="CustomShape 9"/>
          <p:cNvSpPr/>
          <p:nvPr/>
        </p:nvSpPr>
        <p:spPr>
          <a:xfrm>
            <a:off x="0" y="6418440"/>
            <a:ext cx="9140400" cy="435960"/>
          </a:xfrm>
          <a:prstGeom prst="rect">
            <a:avLst/>
          </a:prstGeom>
          <a:solidFill>
            <a:srgbClr val="FFFFFF"/>
          </a:solidFill>
          <a:ln w="9360">
            <a:noFill/>
          </a:ln>
          <a:effectLst>
            <a:outerShdw dist="23040" dir="540000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-US" sz="44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1AE7D222-8916-9C44-918C-7287CE58BF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787732F-142C-AC47-B643-19D1499432B7}" type="datetime1">
              <a:rPr lang="de-DE" smtClean="0"/>
              <a:t>16.10.24</a:t>
            </a:fld>
            <a:endParaRPr lang="en-DE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8BE7738C-0B50-0B20-0A01-6A8519FBCC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00C47E-6ED7-0A43-8B18-8C65B1973209}" type="slidenum">
              <a:rPr lang="en-DE" smtClean="0"/>
              <a:t>‹#›</a:t>
            </a:fld>
            <a:endParaRPr lang="en-DE"/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3B1B167D-D650-42B9-4232-2C3CD067E6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CustomShape 1"/>
          <p:cNvSpPr/>
          <p:nvPr/>
        </p:nvSpPr>
        <p:spPr>
          <a:xfrm rot="10800000" flipV="1">
            <a:off x="54860040" y="8641440"/>
            <a:ext cx="9140400" cy="354600"/>
          </a:xfrm>
          <a:prstGeom prst="rect">
            <a:avLst/>
          </a:prstGeom>
          <a:solidFill>
            <a:srgbClr val="3B515B">
              <a:alpha val="15000"/>
            </a:srgbClr>
          </a:solidFill>
          <a:ln w="9360">
            <a:noFill/>
          </a:ln>
          <a:effectLst>
            <a:outerShdw dist="23040" dir="540000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  <a:ea typeface="DejaVu Sans"/>
            </a:endParaRPr>
          </a:p>
        </p:txBody>
      </p:sp>
      <p:pic>
        <p:nvPicPr>
          <p:cNvPr id="49" name="Bild 7"/>
          <p:cNvPicPr/>
          <p:nvPr/>
        </p:nvPicPr>
        <p:blipFill>
          <a:blip r:embed="rId14"/>
          <a:stretch/>
        </p:blipFill>
        <p:spPr>
          <a:xfrm>
            <a:off x="-380160" y="-380160"/>
            <a:ext cx="2729880" cy="1476360"/>
          </a:xfrm>
          <a:prstGeom prst="rect">
            <a:avLst/>
          </a:prstGeom>
          <a:ln w="0">
            <a:noFill/>
          </a:ln>
        </p:spPr>
      </p:pic>
      <p:sp>
        <p:nvSpPr>
          <p:cNvPr id="50" name="CustomShape 2"/>
          <p:cNvSpPr/>
          <p:nvPr/>
        </p:nvSpPr>
        <p:spPr>
          <a:xfrm>
            <a:off x="7065720" y="381960"/>
            <a:ext cx="1819080" cy="14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210"/>
              </a:spcBef>
              <a:buNone/>
            </a:pPr>
            <a:r>
              <a:rPr lang="en-US" sz="1050" b="0" strike="noStrike" spc="63">
                <a:solidFill>
                  <a:srgbClr val="000000"/>
                </a:solidFill>
                <a:latin typeface="TheSans UHH Bold Caps"/>
                <a:ea typeface="DejaVu Sans"/>
              </a:rPr>
              <a:t>MIN-Fakultät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CustomShape 3"/>
          <p:cNvSpPr/>
          <p:nvPr/>
        </p:nvSpPr>
        <p:spPr>
          <a:xfrm>
            <a:off x="7071840" y="528120"/>
            <a:ext cx="1812960" cy="164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Autofit/>
          </a:bodyPr>
          <a:lstStyle/>
          <a:p>
            <a:pPr algn="r">
              <a:lnSpc>
                <a:spcPct val="100000"/>
              </a:lnSpc>
              <a:spcBef>
                <a:spcPts val="210"/>
              </a:spcBef>
              <a:buNone/>
            </a:pPr>
            <a:r>
              <a:rPr lang="en-US" sz="1050" b="0" strike="noStrike" spc="12">
                <a:solidFill>
                  <a:srgbClr val="009CD1"/>
                </a:solidFill>
                <a:latin typeface="TheSans UHH SemiLight Caps"/>
                <a:ea typeface="DejaVu Sans"/>
              </a:rPr>
              <a:t>Zentrum für Bioinformatik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Line 4"/>
          <p:cNvSpPr/>
          <p:nvPr/>
        </p:nvSpPr>
        <p:spPr>
          <a:xfrm>
            <a:off x="0" y="1165680"/>
            <a:ext cx="9144000" cy="2880"/>
          </a:xfrm>
          <a:prstGeom prst="line">
            <a:avLst/>
          </a:prstGeom>
          <a:ln w="25560">
            <a:solidFill>
              <a:srgbClr val="009CD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2120" rIns="90000" bIns="-4212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55" name="CustomShape 7"/>
          <p:cNvSpPr/>
          <p:nvPr/>
        </p:nvSpPr>
        <p:spPr>
          <a:xfrm>
            <a:off x="8474400" y="6540480"/>
            <a:ext cx="554040" cy="239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-US" sz="44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8AF0CC-BD12-60E9-E2F8-6CA6501788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48E9C0-692D-B340-AF6F-432654B065A1}" type="slidenum">
              <a:rPr lang="en-DE" smtClean="0"/>
              <a:t>‹#›</a:t>
            </a:fld>
            <a:endParaRPr lang="en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D391E1-63FE-2F40-042E-9952FE590D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EA6639B-6ECB-1F4C-A239-3D3843A9EA7B}" type="datetime1">
              <a:rPr lang="de-DE" smtClean="0"/>
              <a:t>16.10.24</a:t>
            </a:fld>
            <a:endParaRPr lang="en-DE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836B140-400A-8ED6-8A66-20299275E1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" Target="slide4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CustomShape 1"/>
          <p:cNvSpPr/>
          <p:nvPr/>
        </p:nvSpPr>
        <p:spPr>
          <a:xfrm>
            <a:off x="0" y="1463760"/>
            <a:ext cx="9140400" cy="4951440"/>
          </a:xfrm>
          <a:prstGeom prst="rect">
            <a:avLst/>
          </a:prstGeom>
          <a:solidFill>
            <a:srgbClr val="000540"/>
          </a:solidFill>
          <a:ln w="9360">
            <a:noFill/>
          </a:ln>
          <a:effectLst>
            <a:outerShdw dist="23040" dir="540000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endParaRPr lang="en-US" sz="1800" b="0" strike="noStrike" spc="-1" dirty="0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96" name="CustomShape 3"/>
          <p:cNvSpPr/>
          <p:nvPr/>
        </p:nvSpPr>
        <p:spPr>
          <a:xfrm>
            <a:off x="441180" y="2661192"/>
            <a:ext cx="8261640" cy="477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  <a:buNone/>
            </a:pPr>
            <a:r>
              <a:rPr lang="de-DE" sz="2800" b="0" strike="noStrike" spc="-1" dirty="0">
                <a:solidFill>
                  <a:srgbClr val="FFFFFF"/>
                </a:solidFill>
                <a:latin typeface="TheSans UHH Bold Caps"/>
                <a:ea typeface="DejaVu Sans"/>
              </a:rPr>
              <a:t>Projekt </a:t>
            </a:r>
            <a:r>
              <a:rPr lang="de-DE" sz="2800" b="0" strike="noStrike" spc="-1" dirty="0" err="1">
                <a:solidFill>
                  <a:srgbClr val="FFFFFF"/>
                </a:solidFill>
                <a:latin typeface="TheSans UHH Bold Caps"/>
                <a:ea typeface="DejaVu Sans"/>
              </a:rPr>
              <a:t>CiS</a:t>
            </a:r>
            <a:r>
              <a:rPr lang="de-DE" sz="2800" spc="-1" dirty="0">
                <a:solidFill>
                  <a:srgbClr val="FFFFFF"/>
                </a:solidFill>
                <a:latin typeface="TheSans UHH Bold Caps"/>
                <a:ea typeface="DejaVu Sans"/>
              </a:rPr>
              <a:t> Biochemie</a:t>
            </a:r>
            <a:endParaRPr lang="en-US" sz="2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CustomShape 3">
            <a:extLst>
              <a:ext uri="{FF2B5EF4-FFF2-40B4-BE49-F238E27FC236}">
                <a16:creationId xmlns:a16="http://schemas.microsoft.com/office/drawing/2014/main" id="{7C25A6C7-A129-02DE-60E4-48257991FB32}"/>
              </a:ext>
            </a:extLst>
          </p:cNvPr>
          <p:cNvSpPr/>
          <p:nvPr/>
        </p:nvSpPr>
        <p:spPr>
          <a:xfrm>
            <a:off x="1402392" y="3652404"/>
            <a:ext cx="6339216" cy="9883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  <a:buNone/>
            </a:pPr>
            <a:r>
              <a:rPr lang="de-DE" sz="2800" b="0" strike="noStrike" spc="-1" dirty="0">
                <a:solidFill>
                  <a:srgbClr val="FFFFFF"/>
                </a:solidFill>
                <a:latin typeface="TheSans UHH Bold Caps"/>
                <a:ea typeface="DejaVu Sans"/>
              </a:rPr>
              <a:t>Navigationsoptimierung anhand von Ampelschaltungsdaten</a:t>
            </a:r>
            <a:endParaRPr lang="en-US" sz="28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1D152A-4919-900E-9A09-58635717C6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CustomShape 1">
            <a:extLst>
              <a:ext uri="{FF2B5EF4-FFF2-40B4-BE49-F238E27FC236}">
                <a16:creationId xmlns:a16="http://schemas.microsoft.com/office/drawing/2014/main" id="{3A4A40B6-3608-CDF7-8C1A-1E62B47D3FAA}"/>
              </a:ext>
            </a:extLst>
          </p:cNvPr>
          <p:cNvSpPr/>
          <p:nvPr/>
        </p:nvSpPr>
        <p:spPr>
          <a:xfrm>
            <a:off x="457200" y="699120"/>
            <a:ext cx="7883280" cy="469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400" spc="-1" dirty="0" err="1">
                <a:solidFill>
                  <a:srgbClr val="000000"/>
                </a:solidFill>
                <a:latin typeface="TheSans UHH Bold"/>
              </a:rPr>
              <a:t>Terminplanung</a:t>
            </a:r>
            <a:endParaRPr lang="en-US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E9BA65B-8D09-F1B1-876F-8643FB884A84}"/>
              </a:ext>
            </a:extLst>
          </p:cNvPr>
          <p:cNvSpPr txBox="1"/>
          <p:nvPr/>
        </p:nvSpPr>
        <p:spPr>
          <a:xfrm>
            <a:off x="457200" y="1361978"/>
            <a:ext cx="6833616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16.10.2024	Kickoff</a:t>
            </a:r>
          </a:p>
          <a:p>
            <a:r>
              <a:rPr lang="en-DE" dirty="0">
                <a:hlinkClick r:id="rId2" action="ppaction://hlinksldjump"/>
              </a:rPr>
              <a:t>23.10.2024</a:t>
            </a:r>
            <a:r>
              <a:rPr lang="en-DE" dirty="0"/>
              <a:t>	Datengrundlage, def. Meilensteine</a:t>
            </a:r>
          </a:p>
          <a:p>
            <a:r>
              <a:rPr lang="en-DE" dirty="0"/>
              <a:t>30.10.2024	tbd, Zeitplan</a:t>
            </a:r>
          </a:p>
          <a:p>
            <a:r>
              <a:rPr lang="en-DE" dirty="0"/>
              <a:t>06.11.2024	tbd</a:t>
            </a:r>
          </a:p>
          <a:p>
            <a:r>
              <a:rPr lang="en-DE" dirty="0"/>
              <a:t>13.11.2024	tbd</a:t>
            </a:r>
          </a:p>
          <a:p>
            <a:r>
              <a:rPr lang="en-DE" dirty="0"/>
              <a:t>20.11.2024	tbd</a:t>
            </a:r>
          </a:p>
          <a:p>
            <a:r>
              <a:rPr lang="en-DE" dirty="0"/>
              <a:t>27.11.2024	tbd</a:t>
            </a:r>
          </a:p>
          <a:p>
            <a:r>
              <a:rPr lang="en-DE" dirty="0"/>
              <a:t>04.12.2024	tbd</a:t>
            </a:r>
          </a:p>
          <a:p>
            <a:r>
              <a:rPr lang="en-DE" dirty="0"/>
              <a:t>11.12.2024	tbd</a:t>
            </a:r>
          </a:p>
          <a:p>
            <a:r>
              <a:rPr lang="en-DE" dirty="0"/>
              <a:t>18.12.2024	tbd</a:t>
            </a:r>
          </a:p>
          <a:p>
            <a:r>
              <a:rPr lang="en-DE" dirty="0">
                <a:solidFill>
                  <a:schemeClr val="bg1">
                    <a:lumMod val="65000"/>
                  </a:schemeClr>
                </a:solidFill>
              </a:rPr>
              <a:t>25.12.2024	Semesterferien</a:t>
            </a:r>
          </a:p>
          <a:p>
            <a:r>
              <a:rPr lang="en-DE" dirty="0">
                <a:solidFill>
                  <a:schemeClr val="bg1">
                    <a:lumMod val="65000"/>
                  </a:schemeClr>
                </a:solidFill>
              </a:rPr>
              <a:t>01.01.2024	Semesterferien</a:t>
            </a:r>
          </a:p>
          <a:p>
            <a:r>
              <a:rPr lang="en-DE" dirty="0"/>
              <a:t>08.01.2024	tbd</a:t>
            </a:r>
          </a:p>
          <a:p>
            <a:r>
              <a:rPr lang="en-DE" dirty="0"/>
              <a:t>15.01.2024	tbd</a:t>
            </a:r>
          </a:p>
          <a:p>
            <a:r>
              <a:rPr lang="en-DE" dirty="0"/>
              <a:t>22.01.2024	tbd</a:t>
            </a:r>
          </a:p>
          <a:p>
            <a:r>
              <a:rPr lang="en-DE" dirty="0"/>
              <a:t>29.01.2024	</a:t>
            </a:r>
            <a:r>
              <a:rPr lang="en-DE" dirty="0">
                <a:solidFill>
                  <a:schemeClr val="bg1">
                    <a:lumMod val="50000"/>
                  </a:schemeClr>
                </a:solidFill>
              </a:rPr>
              <a:t>letzter regulärer Termin</a:t>
            </a:r>
          </a:p>
          <a:p>
            <a:r>
              <a:rPr lang="en-DE" dirty="0"/>
              <a:t>31.01.2024	Abgabe/Projektende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11DD3026-EF9D-CF80-D627-F0B60ADB68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B260B-9787-2941-BD6E-E8B8AEB1B5A8}" type="datetime1">
              <a:rPr lang="de-DE" smtClean="0"/>
              <a:t>16.10.24</a:t>
            </a:fld>
            <a:endParaRPr lang="en-DE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1E7915B9-57F6-6946-33F2-79DD8B851E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8E9C0-692D-B340-AF6F-432654B065A1}" type="slidenum">
              <a:rPr lang="en-DE" smtClean="0"/>
              <a:t>1</a:t>
            </a:fld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38658309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CustomShape 1"/>
          <p:cNvSpPr/>
          <p:nvPr/>
        </p:nvSpPr>
        <p:spPr>
          <a:xfrm>
            <a:off x="457200" y="699120"/>
            <a:ext cx="7883280" cy="469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400" b="0" strike="noStrike" spc="-1" dirty="0" err="1">
                <a:solidFill>
                  <a:srgbClr val="000000"/>
                </a:solidFill>
                <a:latin typeface="TheSans UHH Bold"/>
                <a:ea typeface="DejaVu Sans"/>
              </a:rPr>
              <a:t>Arbeitsprämissen</a:t>
            </a:r>
            <a:endParaRPr lang="en-US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66AF738-50B7-26F5-9D5A-2A1C5983F38D}"/>
              </a:ext>
            </a:extLst>
          </p:cNvPr>
          <p:cNvSpPr txBox="1"/>
          <p:nvPr/>
        </p:nvSpPr>
        <p:spPr>
          <a:xfrm>
            <a:off x="457200" y="1682496"/>
            <a:ext cx="683361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dirty="0"/>
              <a:t>Steht fest</a:t>
            </a:r>
          </a:p>
          <a:p>
            <a:pPr marL="285750" indent="-285750">
              <a:buFontTx/>
              <a:buChar char="-"/>
            </a:pPr>
            <a:r>
              <a:rPr lang="en-DE" dirty="0"/>
              <a:t>Code-Versionierung mit Git</a:t>
            </a:r>
          </a:p>
          <a:p>
            <a:pPr marL="285750" indent="-285750">
              <a:buFontTx/>
              <a:buChar char="-"/>
            </a:pPr>
            <a:r>
              <a:rPr lang="en-GB" dirty="0" err="1"/>
              <a:t>Verwendung</a:t>
            </a:r>
            <a:r>
              <a:rPr lang="en-GB" dirty="0"/>
              <a:t> O</a:t>
            </a:r>
            <a:r>
              <a:rPr lang="en-DE" dirty="0"/>
              <a:t>penstreetmap</a:t>
            </a:r>
          </a:p>
          <a:p>
            <a:pPr marL="285750" indent="-285750">
              <a:buFontTx/>
              <a:buChar char="-"/>
            </a:pPr>
            <a:endParaRPr lang="en-DE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C1F2CF-D16B-3E6C-852D-E7E310C6E0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C0988-905C-AB41-86EF-B70567269C0A}" type="datetime1">
              <a:rPr lang="de-DE" smtClean="0"/>
              <a:t>16.10.24</a:t>
            </a:fld>
            <a:endParaRPr lang="en-D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E5D3FC-B7E0-8A2E-1E9D-7E7A6BDCA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8E9C0-692D-B340-AF6F-432654B065A1}" type="slidenum">
              <a:rPr lang="en-DE" smtClean="0"/>
              <a:t>2</a:t>
            </a:fld>
            <a:endParaRPr lang="en-DE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FA5059-2668-71A3-4A46-1BE6E0BE4047}"/>
              </a:ext>
            </a:extLst>
          </p:cNvPr>
          <p:cNvSpPr txBox="1"/>
          <p:nvPr/>
        </p:nvSpPr>
        <p:spPr>
          <a:xfrm>
            <a:off x="457200" y="3975175"/>
            <a:ext cx="683361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dirty="0"/>
              <a:t>Teams</a:t>
            </a:r>
          </a:p>
          <a:p>
            <a:pPr marL="285750" indent="-285750">
              <a:buFontTx/>
              <a:buChar char="-"/>
            </a:pPr>
            <a:r>
              <a:rPr lang="en-DE" dirty="0"/>
              <a:t>Backend – Mikko, Teo</a:t>
            </a:r>
          </a:p>
          <a:p>
            <a:pPr marL="285750" indent="-285750">
              <a:buFontTx/>
              <a:buChar char="-"/>
            </a:pPr>
            <a:r>
              <a:rPr lang="en-DE" dirty="0"/>
              <a:t>Control – Casper, Rasmus, Stevan</a:t>
            </a:r>
          </a:p>
          <a:p>
            <a:pPr marL="285750" indent="-285750">
              <a:buFontTx/>
              <a:buChar char="-"/>
            </a:pPr>
            <a:r>
              <a:rPr lang="en-DE" dirty="0"/>
              <a:t>Frontend – Nike, Harry</a:t>
            </a:r>
          </a:p>
          <a:p>
            <a:pPr marL="285750" indent="-285750">
              <a:buFontTx/>
              <a:buChar char="-"/>
            </a:pPr>
            <a:endParaRPr lang="en-DE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248383-A604-97CE-B983-9C0DA4A0F8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CustomShape 1">
            <a:extLst>
              <a:ext uri="{FF2B5EF4-FFF2-40B4-BE49-F238E27FC236}">
                <a16:creationId xmlns:a16="http://schemas.microsoft.com/office/drawing/2014/main" id="{567281C1-749D-F006-EB6A-648AF1BB1889}"/>
              </a:ext>
            </a:extLst>
          </p:cNvPr>
          <p:cNvSpPr/>
          <p:nvPr/>
        </p:nvSpPr>
        <p:spPr>
          <a:xfrm>
            <a:off x="457200" y="699120"/>
            <a:ext cx="7883280" cy="469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DE" sz="2400" dirty="0"/>
              <a:t>23.10.2024 ToDo</a:t>
            </a:r>
            <a:endParaRPr lang="en-US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D73FE-A31A-6C23-F844-84094BBD570D}"/>
              </a:ext>
            </a:extLst>
          </p:cNvPr>
          <p:cNvSpPr txBox="1"/>
          <p:nvPr/>
        </p:nvSpPr>
        <p:spPr>
          <a:xfrm>
            <a:off x="457200" y="1682496"/>
            <a:ext cx="6833616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effectLst/>
                <a:latin typeface="Helvetica" pitchFamily="2" charset="0"/>
              </a:rPr>
              <a:t>Team API: </a:t>
            </a:r>
          </a:p>
          <a:p>
            <a:r>
              <a:rPr lang="en-GB" dirty="0">
                <a:effectLst/>
                <a:latin typeface="Helvetica" pitchFamily="2" charset="0"/>
              </a:rPr>
              <a:t>- </a:t>
            </a:r>
            <a:r>
              <a:rPr lang="en-GB" dirty="0" err="1">
                <a:effectLst/>
                <a:latin typeface="Helvetica" pitchFamily="2" charset="0"/>
              </a:rPr>
              <a:t>welche</a:t>
            </a:r>
            <a:r>
              <a:rPr lang="en-GB" dirty="0">
                <a:effectLst/>
                <a:latin typeface="Helvetica" pitchFamily="2" charset="0"/>
              </a:rPr>
              <a:t> </a:t>
            </a:r>
            <a:r>
              <a:rPr lang="en-GB" dirty="0" err="1">
                <a:effectLst/>
                <a:latin typeface="Helvetica" pitchFamily="2" charset="0"/>
              </a:rPr>
              <a:t>Daten</a:t>
            </a:r>
            <a:r>
              <a:rPr lang="en-GB" dirty="0">
                <a:effectLst/>
                <a:latin typeface="Helvetica" pitchFamily="2" charset="0"/>
              </a:rPr>
              <a:t> </a:t>
            </a:r>
            <a:r>
              <a:rPr lang="en-GB" dirty="0" err="1">
                <a:effectLst/>
                <a:latin typeface="Helvetica" pitchFamily="2" charset="0"/>
              </a:rPr>
              <a:t>werden</a:t>
            </a:r>
            <a:r>
              <a:rPr lang="en-GB" dirty="0">
                <a:effectLst/>
                <a:latin typeface="Helvetica" pitchFamily="2" charset="0"/>
              </a:rPr>
              <a:t> in </a:t>
            </a:r>
            <a:r>
              <a:rPr lang="en-GB" dirty="0" err="1">
                <a:effectLst/>
                <a:latin typeface="Helvetica" pitchFamily="2" charset="0"/>
              </a:rPr>
              <a:t>welcher</a:t>
            </a:r>
            <a:r>
              <a:rPr lang="en-GB" dirty="0">
                <a:effectLst/>
                <a:latin typeface="Helvetica" pitchFamily="2" charset="0"/>
              </a:rPr>
              <a:t> Form von der ‘Traffic Lights Data Hamburg’ </a:t>
            </a:r>
            <a:r>
              <a:rPr lang="en-GB" dirty="0" err="1">
                <a:effectLst/>
                <a:latin typeface="Helvetica" pitchFamily="2" charset="0"/>
              </a:rPr>
              <a:t>bereitgestellt</a:t>
            </a:r>
            <a:r>
              <a:rPr lang="en-GB" dirty="0">
                <a:effectLst/>
                <a:latin typeface="Helvetica" pitchFamily="2" charset="0"/>
              </a:rPr>
              <a:t>? </a:t>
            </a:r>
          </a:p>
          <a:p>
            <a:r>
              <a:rPr lang="en-GB" dirty="0">
                <a:effectLst/>
                <a:latin typeface="Helvetica" pitchFamily="2" charset="0"/>
              </a:rPr>
              <a:t>- </a:t>
            </a:r>
            <a:r>
              <a:rPr lang="en-GB" dirty="0" err="1">
                <a:effectLst/>
                <a:latin typeface="Helvetica" pitchFamily="2" charset="0"/>
              </a:rPr>
              <a:t>ggf</a:t>
            </a:r>
            <a:r>
              <a:rPr lang="en-GB" dirty="0">
                <a:effectLst/>
                <a:latin typeface="Helvetica" pitchFamily="2" charset="0"/>
              </a:rPr>
              <a:t>. </a:t>
            </a:r>
            <a:r>
              <a:rPr lang="en-GB" dirty="0" err="1">
                <a:effectLst/>
                <a:latin typeface="Helvetica" pitchFamily="2" charset="0"/>
              </a:rPr>
              <a:t>welche</a:t>
            </a:r>
            <a:r>
              <a:rPr lang="en-GB" dirty="0">
                <a:effectLst/>
                <a:latin typeface="Helvetica" pitchFamily="2" charset="0"/>
              </a:rPr>
              <a:t> </a:t>
            </a:r>
            <a:r>
              <a:rPr lang="en-GB" dirty="0" err="1">
                <a:effectLst/>
                <a:latin typeface="Helvetica" pitchFamily="2" charset="0"/>
              </a:rPr>
              <a:t>Zusammenhänge</a:t>
            </a:r>
            <a:r>
              <a:rPr lang="en-GB" dirty="0">
                <a:effectLst/>
                <a:latin typeface="Helvetica" pitchFamily="2" charset="0"/>
              </a:rPr>
              <a:t> </a:t>
            </a:r>
            <a:r>
              <a:rPr lang="en-GB" dirty="0" err="1">
                <a:effectLst/>
                <a:latin typeface="Helvetica" pitchFamily="2" charset="0"/>
              </a:rPr>
              <a:t>gibt</a:t>
            </a:r>
            <a:r>
              <a:rPr lang="en-GB" dirty="0">
                <a:effectLst/>
                <a:latin typeface="Helvetica" pitchFamily="2" charset="0"/>
              </a:rPr>
              <a:t> es, die für das Projekt </a:t>
            </a:r>
            <a:r>
              <a:rPr lang="en-GB" dirty="0" err="1">
                <a:effectLst/>
                <a:latin typeface="Helvetica" pitchFamily="2" charset="0"/>
              </a:rPr>
              <a:t>interessant</a:t>
            </a:r>
            <a:r>
              <a:rPr lang="en-GB" dirty="0">
                <a:effectLst/>
                <a:latin typeface="Helvetica" pitchFamily="2" charset="0"/>
              </a:rPr>
              <a:t> sein </a:t>
            </a:r>
            <a:r>
              <a:rPr lang="en-GB" dirty="0" err="1">
                <a:effectLst/>
                <a:latin typeface="Helvetica" pitchFamily="2" charset="0"/>
              </a:rPr>
              <a:t>können</a:t>
            </a:r>
            <a:r>
              <a:rPr lang="en-GB" dirty="0">
                <a:effectLst/>
                <a:latin typeface="Helvetica" pitchFamily="2" charset="0"/>
              </a:rPr>
              <a:t>?</a:t>
            </a:r>
            <a:br>
              <a:rPr lang="en-GB" dirty="0">
                <a:effectLst/>
                <a:latin typeface="Helvetica" pitchFamily="2" charset="0"/>
              </a:rPr>
            </a:br>
            <a:endParaRPr lang="en-GB" dirty="0">
              <a:effectLst/>
              <a:latin typeface="Helvetica" pitchFamily="2" charset="0"/>
            </a:endParaRPr>
          </a:p>
          <a:p>
            <a:r>
              <a:rPr lang="en-GB" dirty="0">
                <a:effectLst/>
                <a:latin typeface="Helvetica" pitchFamily="2" charset="0"/>
              </a:rPr>
              <a:t>Team </a:t>
            </a:r>
            <a:r>
              <a:rPr lang="en-GB" dirty="0" err="1">
                <a:effectLst/>
                <a:latin typeface="Helvetica" pitchFamily="2" charset="0"/>
              </a:rPr>
              <a:t>Algorithmen</a:t>
            </a:r>
            <a:r>
              <a:rPr lang="en-GB" dirty="0">
                <a:effectLst/>
                <a:latin typeface="Helvetica" pitchFamily="2" charset="0"/>
              </a:rPr>
              <a:t>: </a:t>
            </a:r>
          </a:p>
          <a:p>
            <a:r>
              <a:rPr lang="en-GB" dirty="0">
                <a:effectLst/>
                <a:latin typeface="Helvetica" pitchFamily="2" charset="0"/>
              </a:rPr>
              <a:t>- </a:t>
            </a:r>
            <a:r>
              <a:rPr lang="en-GB" dirty="0" err="1">
                <a:effectLst/>
                <a:latin typeface="Helvetica" pitchFamily="2" charset="0"/>
              </a:rPr>
              <a:t>Welche</a:t>
            </a:r>
            <a:r>
              <a:rPr lang="en-GB" dirty="0">
                <a:effectLst/>
                <a:latin typeface="Helvetica" pitchFamily="2" charset="0"/>
              </a:rPr>
              <a:t> (</a:t>
            </a:r>
            <a:r>
              <a:rPr lang="en-GB" dirty="0" err="1">
                <a:effectLst/>
                <a:latin typeface="Helvetica" pitchFamily="2" charset="0"/>
              </a:rPr>
              <a:t>übergeordneten</a:t>
            </a:r>
            <a:r>
              <a:rPr lang="en-GB" dirty="0">
                <a:effectLst/>
                <a:latin typeface="Helvetica" pitchFamily="2" charset="0"/>
              </a:rPr>
              <a:t>) </a:t>
            </a:r>
            <a:r>
              <a:rPr lang="en-GB" dirty="0" err="1">
                <a:effectLst/>
                <a:latin typeface="Helvetica" pitchFamily="2" charset="0"/>
              </a:rPr>
              <a:t>Funktionalitäten</a:t>
            </a:r>
            <a:r>
              <a:rPr lang="en-GB" dirty="0">
                <a:effectLst/>
                <a:latin typeface="Helvetica" pitchFamily="2" charset="0"/>
              </a:rPr>
              <a:t> </a:t>
            </a:r>
            <a:r>
              <a:rPr lang="en-GB" dirty="0" err="1">
                <a:effectLst/>
                <a:latin typeface="Helvetica" pitchFamily="2" charset="0"/>
              </a:rPr>
              <a:t>soll</a:t>
            </a:r>
            <a:r>
              <a:rPr lang="en-GB" dirty="0">
                <a:effectLst/>
                <a:latin typeface="Helvetica" pitchFamily="2" charset="0"/>
              </a:rPr>
              <a:t> das </a:t>
            </a:r>
            <a:r>
              <a:rPr lang="en-GB" dirty="0" err="1">
                <a:effectLst/>
                <a:latin typeface="Helvetica" pitchFamily="2" charset="0"/>
              </a:rPr>
              <a:t>Programm</a:t>
            </a:r>
            <a:r>
              <a:rPr lang="en-GB" dirty="0">
                <a:effectLst/>
                <a:latin typeface="Helvetica" pitchFamily="2" charset="0"/>
              </a:rPr>
              <a:t> </a:t>
            </a:r>
            <a:r>
              <a:rPr lang="en-GB" dirty="0" err="1">
                <a:effectLst/>
                <a:latin typeface="Helvetica" pitchFamily="2" charset="0"/>
              </a:rPr>
              <a:t>später</a:t>
            </a:r>
            <a:r>
              <a:rPr lang="en-GB" dirty="0">
                <a:effectLst/>
                <a:latin typeface="Helvetica" pitchFamily="2" charset="0"/>
              </a:rPr>
              <a:t> </a:t>
            </a:r>
            <a:r>
              <a:rPr lang="en-GB" dirty="0" err="1">
                <a:effectLst/>
                <a:latin typeface="Helvetica" pitchFamily="2" charset="0"/>
              </a:rPr>
              <a:t>haben</a:t>
            </a:r>
            <a:r>
              <a:rPr lang="en-GB" dirty="0">
                <a:effectLst/>
                <a:latin typeface="Helvetica" pitchFamily="2" charset="0"/>
              </a:rPr>
              <a:t>? (Und </a:t>
            </a:r>
            <a:r>
              <a:rPr lang="en-GB" dirty="0" err="1">
                <a:effectLst/>
                <a:latin typeface="Helvetica" pitchFamily="2" charset="0"/>
              </a:rPr>
              <a:t>welche</a:t>
            </a:r>
            <a:r>
              <a:rPr lang="en-GB" dirty="0">
                <a:effectLst/>
                <a:latin typeface="Helvetica" pitchFamily="2" charset="0"/>
              </a:rPr>
              <a:t> </a:t>
            </a:r>
            <a:r>
              <a:rPr lang="en-GB" dirty="0" err="1">
                <a:effectLst/>
                <a:latin typeface="Helvetica" pitchFamily="2" charset="0"/>
              </a:rPr>
              <a:t>Daten</a:t>
            </a:r>
            <a:r>
              <a:rPr lang="en-GB" dirty="0">
                <a:effectLst/>
                <a:latin typeface="Helvetica" pitchFamily="2" charset="0"/>
              </a:rPr>
              <a:t> </a:t>
            </a:r>
            <a:r>
              <a:rPr lang="en-GB" dirty="0" err="1">
                <a:effectLst/>
                <a:latin typeface="Helvetica" pitchFamily="2" charset="0"/>
              </a:rPr>
              <a:t>wären</a:t>
            </a:r>
            <a:r>
              <a:rPr lang="en-GB" dirty="0">
                <a:effectLst/>
                <a:latin typeface="Helvetica" pitchFamily="2" charset="0"/>
              </a:rPr>
              <a:t> </a:t>
            </a:r>
            <a:r>
              <a:rPr lang="en-GB" dirty="0" err="1">
                <a:effectLst/>
                <a:latin typeface="Helvetica" pitchFamily="2" charset="0"/>
              </a:rPr>
              <a:t>hierfür</a:t>
            </a:r>
            <a:r>
              <a:rPr lang="en-GB" dirty="0">
                <a:effectLst/>
                <a:latin typeface="Helvetica" pitchFamily="2" charset="0"/>
              </a:rPr>
              <a:t> </a:t>
            </a:r>
            <a:r>
              <a:rPr lang="en-GB" dirty="0" err="1">
                <a:effectLst/>
                <a:latin typeface="Helvetica" pitchFamily="2" charset="0"/>
              </a:rPr>
              <a:t>notwendig</a:t>
            </a:r>
            <a:r>
              <a:rPr lang="en-GB" dirty="0">
                <a:effectLst/>
                <a:latin typeface="Helvetica" pitchFamily="2" charset="0"/>
              </a:rPr>
              <a:t>?)</a:t>
            </a:r>
          </a:p>
          <a:p>
            <a:r>
              <a:rPr lang="en-GB" dirty="0">
                <a:effectLst/>
                <a:latin typeface="Helvetica" pitchFamily="2" charset="0"/>
              </a:rPr>
              <a:t>- </a:t>
            </a:r>
            <a:r>
              <a:rPr lang="en-GB" dirty="0" err="1">
                <a:effectLst/>
                <a:latin typeface="Helvetica" pitchFamily="2" charset="0"/>
              </a:rPr>
              <a:t>ggf</a:t>
            </a:r>
            <a:r>
              <a:rPr lang="en-GB" dirty="0">
                <a:effectLst/>
                <a:latin typeface="Helvetica" pitchFamily="2" charset="0"/>
              </a:rPr>
              <a:t>. </a:t>
            </a:r>
            <a:r>
              <a:rPr lang="en-GB" dirty="0" err="1">
                <a:effectLst/>
                <a:latin typeface="Helvetica" pitchFamily="2" charset="0"/>
              </a:rPr>
              <a:t>gibt</a:t>
            </a:r>
            <a:r>
              <a:rPr lang="en-GB" dirty="0">
                <a:effectLst/>
                <a:latin typeface="Helvetica" pitchFamily="2" charset="0"/>
              </a:rPr>
              <a:t> es für </a:t>
            </a:r>
            <a:r>
              <a:rPr lang="en-GB" dirty="0" err="1">
                <a:effectLst/>
                <a:latin typeface="Helvetica" pitchFamily="2" charset="0"/>
              </a:rPr>
              <a:t>diese</a:t>
            </a:r>
            <a:r>
              <a:rPr lang="en-GB" dirty="0">
                <a:effectLst/>
                <a:latin typeface="Helvetica" pitchFamily="2" charset="0"/>
              </a:rPr>
              <a:t> </a:t>
            </a:r>
            <a:r>
              <a:rPr lang="en-GB" dirty="0" err="1">
                <a:effectLst/>
                <a:latin typeface="Helvetica" pitchFamily="2" charset="0"/>
              </a:rPr>
              <a:t>bereits</a:t>
            </a:r>
            <a:r>
              <a:rPr lang="en-GB" dirty="0">
                <a:effectLst/>
                <a:latin typeface="Helvetica" pitchFamily="2" charset="0"/>
              </a:rPr>
              <a:t> </a:t>
            </a:r>
            <a:r>
              <a:rPr lang="en-GB" dirty="0" err="1">
                <a:effectLst/>
                <a:latin typeface="Helvetica" pitchFamily="2" charset="0"/>
              </a:rPr>
              <a:t>Lösungen</a:t>
            </a:r>
            <a:r>
              <a:rPr lang="en-GB" dirty="0">
                <a:effectLst/>
                <a:latin typeface="Helvetica" pitchFamily="2" charset="0"/>
              </a:rPr>
              <a:t> (</a:t>
            </a:r>
            <a:r>
              <a:rPr lang="en-GB" dirty="0" err="1">
                <a:effectLst/>
                <a:latin typeface="Helvetica" pitchFamily="2" charset="0"/>
              </a:rPr>
              <a:t>insb</a:t>
            </a:r>
            <a:r>
              <a:rPr lang="en-GB" dirty="0">
                <a:effectLst/>
                <a:latin typeface="Helvetica" pitchFamily="2" charset="0"/>
              </a:rPr>
              <a:t>. in </a:t>
            </a:r>
            <a:r>
              <a:rPr lang="en-GB" dirty="0" err="1">
                <a:effectLst/>
                <a:latin typeface="Helvetica" pitchFamily="2" charset="0"/>
              </a:rPr>
              <a:t>Zusammenhang</a:t>
            </a:r>
            <a:r>
              <a:rPr lang="en-GB" dirty="0">
                <a:effectLst/>
                <a:latin typeface="Helvetica" pitchFamily="2" charset="0"/>
              </a:rPr>
              <a:t> </a:t>
            </a:r>
            <a:r>
              <a:rPr lang="en-GB" dirty="0" err="1">
                <a:effectLst/>
                <a:latin typeface="Helvetica" pitchFamily="2" charset="0"/>
              </a:rPr>
              <a:t>mit</a:t>
            </a:r>
            <a:r>
              <a:rPr lang="en-GB" dirty="0">
                <a:effectLst/>
                <a:latin typeface="Helvetica" pitchFamily="2" charset="0"/>
              </a:rPr>
              <a:t> </a:t>
            </a:r>
            <a:r>
              <a:rPr lang="en-GB" dirty="0" err="1">
                <a:effectLst/>
                <a:latin typeface="Helvetica" pitchFamily="2" charset="0"/>
              </a:rPr>
              <a:t>openstreetmap</a:t>
            </a:r>
            <a:r>
              <a:rPr lang="en-GB" dirty="0">
                <a:effectLst/>
                <a:latin typeface="Helvetica" pitchFamily="2" charset="0"/>
              </a:rPr>
              <a:t>)?</a:t>
            </a:r>
            <a:br>
              <a:rPr lang="en-GB" dirty="0">
                <a:effectLst/>
                <a:latin typeface="Helvetica" pitchFamily="2" charset="0"/>
              </a:rPr>
            </a:br>
            <a:endParaRPr lang="en-GB" dirty="0">
              <a:effectLst/>
              <a:latin typeface="Helvetica" pitchFamily="2" charset="0"/>
            </a:endParaRPr>
          </a:p>
          <a:p>
            <a:r>
              <a:rPr lang="en-GB" dirty="0">
                <a:effectLst/>
                <a:latin typeface="Helvetica" pitchFamily="2" charset="0"/>
              </a:rPr>
              <a:t>Team </a:t>
            </a:r>
            <a:r>
              <a:rPr lang="en-GB" dirty="0" err="1">
                <a:effectLst/>
                <a:latin typeface="Helvetica" pitchFamily="2" charset="0"/>
              </a:rPr>
              <a:t>Visualisierung</a:t>
            </a:r>
            <a:r>
              <a:rPr lang="en-GB" dirty="0">
                <a:effectLst/>
                <a:latin typeface="Helvetica" pitchFamily="2" charset="0"/>
              </a:rPr>
              <a:t>:</a:t>
            </a:r>
          </a:p>
          <a:p>
            <a:r>
              <a:rPr lang="en-GB" dirty="0">
                <a:effectLst/>
                <a:latin typeface="Helvetica" pitchFamily="2" charset="0"/>
              </a:rPr>
              <a:t>- </a:t>
            </a:r>
            <a:r>
              <a:rPr lang="en-GB" dirty="0" err="1">
                <a:effectLst/>
                <a:latin typeface="Helvetica" pitchFamily="2" charset="0"/>
              </a:rPr>
              <a:t>Möglichkeiten</a:t>
            </a:r>
            <a:r>
              <a:rPr lang="en-GB" dirty="0">
                <a:effectLst/>
                <a:latin typeface="Helvetica" pitchFamily="2" charset="0"/>
              </a:rPr>
              <a:t> die </a:t>
            </a:r>
            <a:r>
              <a:rPr lang="en-GB" dirty="0" err="1">
                <a:effectLst/>
                <a:latin typeface="Helvetica" pitchFamily="2" charset="0"/>
              </a:rPr>
              <a:t>openstreetmap</a:t>
            </a:r>
            <a:r>
              <a:rPr lang="en-GB" dirty="0">
                <a:effectLst/>
                <a:latin typeface="Helvetica" pitchFamily="2" charset="0"/>
              </a:rPr>
              <a:t> (</a:t>
            </a:r>
            <a:r>
              <a:rPr lang="en-GB" dirty="0" err="1">
                <a:effectLst/>
                <a:latin typeface="Helvetica" pitchFamily="2" charset="0"/>
              </a:rPr>
              <a:t>lokal</a:t>
            </a:r>
            <a:r>
              <a:rPr lang="en-GB" dirty="0">
                <a:effectLst/>
                <a:latin typeface="Helvetica" pitchFamily="2" charset="0"/>
              </a:rPr>
              <a:t>) </a:t>
            </a:r>
            <a:r>
              <a:rPr lang="en-GB" dirty="0" err="1">
                <a:effectLst/>
                <a:latin typeface="Helvetica" pitchFamily="2" charset="0"/>
              </a:rPr>
              <a:t>zu</a:t>
            </a:r>
            <a:r>
              <a:rPr lang="en-GB" dirty="0">
                <a:effectLst/>
                <a:latin typeface="Helvetica" pitchFamily="2" charset="0"/>
              </a:rPr>
              <a:t> </a:t>
            </a:r>
            <a:r>
              <a:rPr lang="en-GB" dirty="0" err="1">
                <a:effectLst/>
                <a:latin typeface="Helvetica" pitchFamily="2" charset="0"/>
              </a:rPr>
              <a:t>visualisieren</a:t>
            </a:r>
            <a:endParaRPr lang="en-GB" dirty="0">
              <a:effectLst/>
              <a:latin typeface="Helvetica" pitchFamily="2" charset="0"/>
            </a:endParaRPr>
          </a:p>
          <a:p>
            <a:r>
              <a:rPr lang="en-GB" dirty="0">
                <a:effectLst/>
                <a:latin typeface="Helvetica" pitchFamily="2" charset="0"/>
              </a:rPr>
              <a:t>- </a:t>
            </a:r>
            <a:r>
              <a:rPr lang="en-GB" dirty="0" err="1">
                <a:effectLst/>
                <a:latin typeface="Helvetica" pitchFamily="2" charset="0"/>
              </a:rPr>
              <a:t>Welche</a:t>
            </a:r>
            <a:r>
              <a:rPr lang="en-GB" dirty="0">
                <a:effectLst/>
                <a:latin typeface="Helvetica" pitchFamily="2" charset="0"/>
              </a:rPr>
              <a:t> </a:t>
            </a:r>
            <a:r>
              <a:rPr lang="en-GB" dirty="0" err="1">
                <a:effectLst/>
                <a:latin typeface="Helvetica" pitchFamily="2" charset="0"/>
              </a:rPr>
              <a:t>Daten</a:t>
            </a:r>
            <a:r>
              <a:rPr lang="en-GB" dirty="0">
                <a:effectLst/>
                <a:latin typeface="Helvetica" pitchFamily="2" charset="0"/>
              </a:rPr>
              <a:t> </a:t>
            </a:r>
            <a:r>
              <a:rPr lang="en-GB" dirty="0" err="1">
                <a:effectLst/>
                <a:latin typeface="Helvetica" pitchFamily="2" charset="0"/>
              </a:rPr>
              <a:t>könnten</a:t>
            </a:r>
            <a:r>
              <a:rPr lang="en-GB" dirty="0">
                <a:effectLst/>
                <a:latin typeface="Helvetica" pitchFamily="2" charset="0"/>
              </a:rPr>
              <a:t> </a:t>
            </a:r>
            <a:r>
              <a:rPr lang="en-GB" dirty="0" err="1">
                <a:effectLst/>
                <a:latin typeface="Helvetica" pitchFamily="2" charset="0"/>
              </a:rPr>
              <a:t>visualisiert</a:t>
            </a:r>
            <a:r>
              <a:rPr lang="en-GB" dirty="0">
                <a:effectLst/>
                <a:latin typeface="Helvetica" pitchFamily="2" charset="0"/>
              </a:rPr>
              <a:t> </a:t>
            </a:r>
            <a:r>
              <a:rPr lang="en-GB" dirty="0" err="1">
                <a:effectLst/>
                <a:latin typeface="Helvetica" pitchFamily="2" charset="0"/>
              </a:rPr>
              <a:t>werden</a:t>
            </a:r>
            <a:endParaRPr lang="en-GB" dirty="0">
              <a:effectLst/>
              <a:latin typeface="Helvetica" pitchFamily="2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E797F6-D789-6575-DEAD-6F02655AC7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C0988-905C-AB41-86EF-B70567269C0A}" type="datetime1">
              <a:rPr lang="de-DE" smtClean="0"/>
              <a:t>16.10.24</a:t>
            </a:fld>
            <a:endParaRPr lang="en-D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8CE117-1295-9E5C-7A73-A7DB46768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8E9C0-692D-B340-AF6F-432654B065A1}" type="slidenum">
              <a:rPr lang="en-DE" smtClean="0"/>
              <a:t>3</a:t>
            </a:fld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29602534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A5C4CE-3E50-4B0B-F6B1-E0EFD57DEA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CustomShape 1">
            <a:extLst>
              <a:ext uri="{FF2B5EF4-FFF2-40B4-BE49-F238E27FC236}">
                <a16:creationId xmlns:a16="http://schemas.microsoft.com/office/drawing/2014/main" id="{E09BAB65-7AC4-1896-73F6-7A6732B44A24}"/>
              </a:ext>
            </a:extLst>
          </p:cNvPr>
          <p:cNvSpPr/>
          <p:nvPr/>
        </p:nvSpPr>
        <p:spPr>
          <a:xfrm>
            <a:off x="457200" y="699120"/>
            <a:ext cx="7883280" cy="469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DE" sz="2400" dirty="0"/>
              <a:t>23.10.2024 Team API</a:t>
            </a:r>
            <a:endParaRPr lang="en-US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8123D3E-E481-4D0B-8A4F-D76F3B3B6E02}"/>
              </a:ext>
            </a:extLst>
          </p:cNvPr>
          <p:cNvSpPr txBox="1"/>
          <p:nvPr/>
        </p:nvSpPr>
        <p:spPr>
          <a:xfrm>
            <a:off x="457200" y="1682496"/>
            <a:ext cx="68336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>
                <a:effectLst/>
                <a:latin typeface="Helvetica" pitchFamily="2" charset="0"/>
              </a:rPr>
              <a:t>Welche</a:t>
            </a:r>
            <a:r>
              <a:rPr lang="en-GB" dirty="0">
                <a:effectLst/>
                <a:latin typeface="Helvetica" pitchFamily="2" charset="0"/>
              </a:rPr>
              <a:t> </a:t>
            </a:r>
            <a:r>
              <a:rPr lang="en-GB" dirty="0" err="1">
                <a:effectLst/>
                <a:latin typeface="Helvetica" pitchFamily="2" charset="0"/>
              </a:rPr>
              <a:t>Daten</a:t>
            </a:r>
            <a:r>
              <a:rPr lang="en-GB" dirty="0">
                <a:effectLst/>
                <a:latin typeface="Helvetica" pitchFamily="2" charset="0"/>
              </a:rPr>
              <a:t> </a:t>
            </a:r>
            <a:r>
              <a:rPr lang="en-GB" dirty="0" err="1">
                <a:effectLst/>
                <a:latin typeface="Helvetica" pitchFamily="2" charset="0"/>
              </a:rPr>
              <a:t>werden</a:t>
            </a:r>
            <a:r>
              <a:rPr lang="en-GB" dirty="0">
                <a:effectLst/>
                <a:latin typeface="Helvetica" pitchFamily="2" charset="0"/>
              </a:rPr>
              <a:t> in </a:t>
            </a:r>
            <a:r>
              <a:rPr lang="en-GB" dirty="0" err="1">
                <a:effectLst/>
                <a:latin typeface="Helvetica" pitchFamily="2" charset="0"/>
              </a:rPr>
              <a:t>welcher</a:t>
            </a:r>
            <a:r>
              <a:rPr lang="en-GB" dirty="0">
                <a:effectLst/>
                <a:latin typeface="Helvetica" pitchFamily="2" charset="0"/>
              </a:rPr>
              <a:t> Form von der ‘Traffic Lights Data Hamburg’ </a:t>
            </a:r>
            <a:r>
              <a:rPr lang="en-GB" dirty="0" err="1">
                <a:effectLst/>
                <a:latin typeface="Helvetica" pitchFamily="2" charset="0"/>
              </a:rPr>
              <a:t>bereitgestellt</a:t>
            </a:r>
            <a:r>
              <a:rPr lang="en-GB" dirty="0">
                <a:effectLst/>
                <a:latin typeface="Helvetica" pitchFamily="2" charset="0"/>
              </a:rPr>
              <a:t>? 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96D3E7-9C41-548F-D44B-DC47473F96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C0988-905C-AB41-86EF-B70567269C0A}" type="datetime1">
              <a:rPr lang="de-DE" smtClean="0"/>
              <a:t>16.10.24</a:t>
            </a:fld>
            <a:endParaRPr lang="en-D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322190-5AC9-0CAC-9E10-D4029D21AB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8E9C0-692D-B340-AF6F-432654B065A1}" type="slidenum">
              <a:rPr lang="en-DE" smtClean="0"/>
              <a:t>4</a:t>
            </a:fld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26952620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2EC99F-5327-77B1-4AC3-7254B94EC3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CustomShape 1">
            <a:extLst>
              <a:ext uri="{FF2B5EF4-FFF2-40B4-BE49-F238E27FC236}">
                <a16:creationId xmlns:a16="http://schemas.microsoft.com/office/drawing/2014/main" id="{42CD7637-DE4B-6539-F668-9ECEDE9B44CE}"/>
              </a:ext>
            </a:extLst>
          </p:cNvPr>
          <p:cNvSpPr/>
          <p:nvPr/>
        </p:nvSpPr>
        <p:spPr>
          <a:xfrm>
            <a:off x="457200" y="699120"/>
            <a:ext cx="7883280" cy="469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DE" sz="2400" dirty="0"/>
              <a:t>23.10.2024 Team Algorithmen</a:t>
            </a:r>
            <a:endParaRPr lang="en-US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8C4D96C-E3CC-AC00-1047-1D14C5DB0E85}"/>
              </a:ext>
            </a:extLst>
          </p:cNvPr>
          <p:cNvSpPr txBox="1"/>
          <p:nvPr/>
        </p:nvSpPr>
        <p:spPr>
          <a:xfrm>
            <a:off x="457200" y="1682496"/>
            <a:ext cx="68336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>
                <a:effectLst/>
                <a:latin typeface="Helvetica" pitchFamily="2" charset="0"/>
              </a:rPr>
              <a:t>Welche</a:t>
            </a:r>
            <a:r>
              <a:rPr lang="en-GB" dirty="0">
                <a:effectLst/>
                <a:latin typeface="Helvetica" pitchFamily="2" charset="0"/>
              </a:rPr>
              <a:t> (</a:t>
            </a:r>
            <a:r>
              <a:rPr lang="en-GB" dirty="0" err="1">
                <a:effectLst/>
                <a:latin typeface="Helvetica" pitchFamily="2" charset="0"/>
              </a:rPr>
              <a:t>übergeordneten</a:t>
            </a:r>
            <a:r>
              <a:rPr lang="en-GB" dirty="0">
                <a:effectLst/>
                <a:latin typeface="Helvetica" pitchFamily="2" charset="0"/>
              </a:rPr>
              <a:t>) </a:t>
            </a:r>
            <a:r>
              <a:rPr lang="en-GB" dirty="0" err="1">
                <a:effectLst/>
                <a:latin typeface="Helvetica" pitchFamily="2" charset="0"/>
              </a:rPr>
              <a:t>Funktionalitäten</a:t>
            </a:r>
            <a:r>
              <a:rPr lang="en-GB" dirty="0">
                <a:effectLst/>
                <a:latin typeface="Helvetica" pitchFamily="2" charset="0"/>
              </a:rPr>
              <a:t> </a:t>
            </a:r>
            <a:r>
              <a:rPr lang="en-GB" dirty="0" err="1">
                <a:effectLst/>
                <a:latin typeface="Helvetica" pitchFamily="2" charset="0"/>
              </a:rPr>
              <a:t>soll</a:t>
            </a:r>
            <a:r>
              <a:rPr lang="en-GB" dirty="0">
                <a:effectLst/>
                <a:latin typeface="Helvetica" pitchFamily="2" charset="0"/>
              </a:rPr>
              <a:t> das </a:t>
            </a:r>
            <a:r>
              <a:rPr lang="en-GB" dirty="0" err="1">
                <a:effectLst/>
                <a:latin typeface="Helvetica" pitchFamily="2" charset="0"/>
              </a:rPr>
              <a:t>Programm</a:t>
            </a:r>
            <a:r>
              <a:rPr lang="en-GB" dirty="0">
                <a:effectLst/>
                <a:latin typeface="Helvetica" pitchFamily="2" charset="0"/>
              </a:rPr>
              <a:t> </a:t>
            </a:r>
            <a:r>
              <a:rPr lang="en-GB" dirty="0" err="1">
                <a:effectLst/>
                <a:latin typeface="Helvetica" pitchFamily="2" charset="0"/>
              </a:rPr>
              <a:t>später</a:t>
            </a:r>
            <a:r>
              <a:rPr lang="en-GB" dirty="0">
                <a:effectLst/>
                <a:latin typeface="Helvetica" pitchFamily="2" charset="0"/>
              </a:rPr>
              <a:t> </a:t>
            </a:r>
            <a:r>
              <a:rPr lang="en-GB" dirty="0" err="1">
                <a:effectLst/>
                <a:latin typeface="Helvetica" pitchFamily="2" charset="0"/>
              </a:rPr>
              <a:t>haben</a:t>
            </a:r>
            <a:r>
              <a:rPr lang="en-GB" dirty="0">
                <a:effectLst/>
                <a:latin typeface="Helvetica" pitchFamily="2" charset="0"/>
              </a:rPr>
              <a:t>? (Und </a:t>
            </a:r>
            <a:r>
              <a:rPr lang="en-GB" dirty="0" err="1">
                <a:effectLst/>
                <a:latin typeface="Helvetica" pitchFamily="2" charset="0"/>
              </a:rPr>
              <a:t>welche</a:t>
            </a:r>
            <a:r>
              <a:rPr lang="en-GB" dirty="0">
                <a:effectLst/>
                <a:latin typeface="Helvetica" pitchFamily="2" charset="0"/>
              </a:rPr>
              <a:t> </a:t>
            </a:r>
            <a:r>
              <a:rPr lang="en-GB" dirty="0" err="1">
                <a:effectLst/>
                <a:latin typeface="Helvetica" pitchFamily="2" charset="0"/>
              </a:rPr>
              <a:t>Daten</a:t>
            </a:r>
            <a:r>
              <a:rPr lang="en-GB" dirty="0">
                <a:effectLst/>
                <a:latin typeface="Helvetica" pitchFamily="2" charset="0"/>
              </a:rPr>
              <a:t> </a:t>
            </a:r>
            <a:r>
              <a:rPr lang="en-GB" dirty="0" err="1">
                <a:effectLst/>
                <a:latin typeface="Helvetica" pitchFamily="2" charset="0"/>
              </a:rPr>
              <a:t>wären</a:t>
            </a:r>
            <a:r>
              <a:rPr lang="en-GB" dirty="0">
                <a:effectLst/>
                <a:latin typeface="Helvetica" pitchFamily="2" charset="0"/>
              </a:rPr>
              <a:t> </a:t>
            </a:r>
            <a:r>
              <a:rPr lang="en-GB" dirty="0" err="1">
                <a:effectLst/>
                <a:latin typeface="Helvetica" pitchFamily="2" charset="0"/>
              </a:rPr>
              <a:t>hierfür</a:t>
            </a:r>
            <a:r>
              <a:rPr lang="en-GB" dirty="0">
                <a:effectLst/>
                <a:latin typeface="Helvetica" pitchFamily="2" charset="0"/>
              </a:rPr>
              <a:t> </a:t>
            </a:r>
            <a:r>
              <a:rPr lang="en-GB" dirty="0" err="1">
                <a:effectLst/>
                <a:latin typeface="Helvetica" pitchFamily="2" charset="0"/>
              </a:rPr>
              <a:t>notwendig</a:t>
            </a:r>
            <a:r>
              <a:rPr lang="en-GB" dirty="0">
                <a:effectLst/>
                <a:latin typeface="Helvetica" pitchFamily="2" charset="0"/>
              </a:rPr>
              <a:t>?)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AE4D9C-E0E0-5476-1BE7-F45A1093E4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C0988-905C-AB41-86EF-B70567269C0A}" type="datetime1">
              <a:rPr lang="de-DE" smtClean="0"/>
              <a:t>16.10.24</a:t>
            </a:fld>
            <a:endParaRPr lang="en-D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8FA3F6-C001-F042-7DCE-719C9EB62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8E9C0-692D-B340-AF6F-432654B065A1}" type="slidenum">
              <a:rPr lang="en-DE" smtClean="0"/>
              <a:t>5</a:t>
            </a:fld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36835145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F71303-0FCE-DA02-7DE4-706BA33E24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CustomShape 1">
            <a:extLst>
              <a:ext uri="{FF2B5EF4-FFF2-40B4-BE49-F238E27FC236}">
                <a16:creationId xmlns:a16="http://schemas.microsoft.com/office/drawing/2014/main" id="{9F5AF313-AE81-79FA-5742-52D5EBF4783B}"/>
              </a:ext>
            </a:extLst>
          </p:cNvPr>
          <p:cNvSpPr/>
          <p:nvPr/>
        </p:nvSpPr>
        <p:spPr>
          <a:xfrm>
            <a:off x="457200" y="699120"/>
            <a:ext cx="7883280" cy="469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DE" sz="2400" dirty="0"/>
              <a:t>23.10.2024 Team Visualisierung</a:t>
            </a:r>
            <a:endParaRPr lang="en-US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7D21ABF-46E7-470F-8411-020A0C41F70A}"/>
              </a:ext>
            </a:extLst>
          </p:cNvPr>
          <p:cNvSpPr txBox="1"/>
          <p:nvPr/>
        </p:nvSpPr>
        <p:spPr>
          <a:xfrm>
            <a:off x="457200" y="1682496"/>
            <a:ext cx="68336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>
                <a:effectLst/>
                <a:latin typeface="Helvetica" pitchFamily="2" charset="0"/>
              </a:rPr>
              <a:t>Möglichkeiten</a:t>
            </a:r>
            <a:r>
              <a:rPr lang="en-GB" dirty="0">
                <a:effectLst/>
                <a:latin typeface="Helvetica" pitchFamily="2" charset="0"/>
              </a:rPr>
              <a:t> die </a:t>
            </a:r>
            <a:r>
              <a:rPr lang="en-GB" dirty="0" err="1">
                <a:effectLst/>
                <a:latin typeface="Helvetica" pitchFamily="2" charset="0"/>
              </a:rPr>
              <a:t>openstreetmap</a:t>
            </a:r>
            <a:r>
              <a:rPr lang="en-GB" dirty="0">
                <a:effectLst/>
                <a:latin typeface="Helvetica" pitchFamily="2" charset="0"/>
              </a:rPr>
              <a:t> (</a:t>
            </a:r>
            <a:r>
              <a:rPr lang="en-GB" dirty="0" err="1">
                <a:effectLst/>
                <a:latin typeface="Helvetica" pitchFamily="2" charset="0"/>
              </a:rPr>
              <a:t>lokal</a:t>
            </a:r>
            <a:r>
              <a:rPr lang="en-GB" dirty="0">
                <a:effectLst/>
                <a:latin typeface="Helvetica" pitchFamily="2" charset="0"/>
              </a:rPr>
              <a:t>) </a:t>
            </a:r>
            <a:r>
              <a:rPr lang="en-GB" dirty="0" err="1">
                <a:effectLst/>
                <a:latin typeface="Helvetica" pitchFamily="2" charset="0"/>
              </a:rPr>
              <a:t>zu</a:t>
            </a:r>
            <a:r>
              <a:rPr lang="en-GB" dirty="0">
                <a:effectLst/>
                <a:latin typeface="Helvetica" pitchFamily="2" charset="0"/>
              </a:rPr>
              <a:t> </a:t>
            </a:r>
            <a:r>
              <a:rPr lang="en-GB" dirty="0" err="1">
                <a:effectLst/>
                <a:latin typeface="Helvetica" pitchFamily="2" charset="0"/>
              </a:rPr>
              <a:t>visualisieren</a:t>
            </a:r>
            <a:endParaRPr lang="en-GB" dirty="0">
              <a:effectLst/>
              <a:latin typeface="Helvetica" pitchFamily="2" charset="0"/>
            </a:endParaRPr>
          </a:p>
          <a:p>
            <a:r>
              <a:rPr lang="en-GB" dirty="0" err="1">
                <a:effectLst/>
                <a:latin typeface="Helvetica" pitchFamily="2" charset="0"/>
              </a:rPr>
              <a:t>Welche</a:t>
            </a:r>
            <a:r>
              <a:rPr lang="en-GB" dirty="0">
                <a:effectLst/>
                <a:latin typeface="Helvetica" pitchFamily="2" charset="0"/>
              </a:rPr>
              <a:t> </a:t>
            </a:r>
            <a:r>
              <a:rPr lang="en-GB" dirty="0" err="1">
                <a:effectLst/>
                <a:latin typeface="Helvetica" pitchFamily="2" charset="0"/>
              </a:rPr>
              <a:t>Daten</a:t>
            </a:r>
            <a:r>
              <a:rPr lang="en-GB" dirty="0">
                <a:effectLst/>
                <a:latin typeface="Helvetica" pitchFamily="2" charset="0"/>
              </a:rPr>
              <a:t> </a:t>
            </a:r>
            <a:r>
              <a:rPr lang="en-GB" dirty="0" err="1">
                <a:effectLst/>
                <a:latin typeface="Helvetica" pitchFamily="2" charset="0"/>
              </a:rPr>
              <a:t>könnten</a:t>
            </a:r>
            <a:r>
              <a:rPr lang="en-GB" dirty="0">
                <a:effectLst/>
                <a:latin typeface="Helvetica" pitchFamily="2" charset="0"/>
              </a:rPr>
              <a:t> </a:t>
            </a:r>
            <a:r>
              <a:rPr lang="en-GB" dirty="0" err="1">
                <a:effectLst/>
                <a:latin typeface="Helvetica" pitchFamily="2" charset="0"/>
              </a:rPr>
              <a:t>visualisiert</a:t>
            </a:r>
            <a:r>
              <a:rPr lang="en-GB" dirty="0">
                <a:effectLst/>
                <a:latin typeface="Helvetica" pitchFamily="2" charset="0"/>
              </a:rPr>
              <a:t> </a:t>
            </a:r>
            <a:r>
              <a:rPr lang="en-GB" dirty="0" err="1">
                <a:effectLst/>
                <a:latin typeface="Helvetica" pitchFamily="2" charset="0"/>
              </a:rPr>
              <a:t>werden</a:t>
            </a:r>
            <a:endParaRPr lang="en-GB" dirty="0">
              <a:effectLst/>
              <a:latin typeface="Helvetica" pitchFamily="2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98A1C1-C6E3-36DB-1A7D-C511DC4678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C0988-905C-AB41-86EF-B70567269C0A}" type="datetime1">
              <a:rPr lang="de-DE" smtClean="0"/>
              <a:t>16.10.24</a:t>
            </a:fld>
            <a:endParaRPr lang="en-D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D8A319-FC07-1A9E-C96D-E7A13789C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8E9C0-692D-B340-AF6F-432654B065A1}" type="slidenum">
              <a:rPr lang="en-DE" smtClean="0"/>
              <a:t>6</a:t>
            </a:fld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9478272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331</TotalTime>
  <Words>263</Words>
  <Application>Microsoft Macintosh PowerPoint</Application>
  <PresentationFormat>On-screen Show (4:3)</PresentationFormat>
  <Paragraphs>57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18" baseType="lpstr">
      <vt:lpstr>Aptos</vt:lpstr>
      <vt:lpstr>Arial</vt:lpstr>
      <vt:lpstr>Helvetica</vt:lpstr>
      <vt:lpstr>Symbol</vt:lpstr>
      <vt:lpstr>TheSans UHH Bold</vt:lpstr>
      <vt:lpstr>TheSans UHH Bold Caps</vt:lpstr>
      <vt:lpstr>TheSans UHH Regular</vt:lpstr>
      <vt:lpstr>TheSans UHH SemiLight Caps</vt:lpstr>
      <vt:lpstr>Wingdings</vt:lpstr>
      <vt:lpstr>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blum design und kommunikation GmbH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subject/>
  <dc:creator>Eike Hilgendorff</dc:creator>
  <dc:description/>
  <cp:lastModifiedBy>Harry Zick</cp:lastModifiedBy>
  <cp:revision>269</cp:revision>
  <dcterms:created xsi:type="dcterms:W3CDTF">2016-03-24T14:49:53Z</dcterms:created>
  <dcterms:modified xsi:type="dcterms:W3CDTF">2024-10-16T19:17:58Z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HiddenSlides">
    <vt:i4>0</vt:i4>
  </property>
  <property fmtid="{D5CDD505-2E9C-101B-9397-08002B2CF9AE}" pid="3" name="HyperlinksChanged">
    <vt:bool>false</vt:bool>
  </property>
  <property fmtid="{D5CDD505-2E9C-101B-9397-08002B2CF9AE}" pid="4" name="LinksUpToDate">
    <vt:bool>false</vt:bool>
  </property>
  <property fmtid="{D5CDD505-2E9C-101B-9397-08002B2CF9AE}" pid="5" name="MMClips">
    <vt:i4>0</vt:i4>
  </property>
  <property fmtid="{D5CDD505-2E9C-101B-9397-08002B2CF9AE}" pid="6" name="Notes">
    <vt:i4>0</vt:i4>
  </property>
  <property fmtid="{D5CDD505-2E9C-101B-9397-08002B2CF9AE}" pid="7" name="PresentationFormat">
    <vt:lpwstr>Bildschirmpräsentation (4:3)</vt:lpwstr>
  </property>
  <property fmtid="{D5CDD505-2E9C-101B-9397-08002B2CF9AE}" pid="8" name="ScaleCrop">
    <vt:bool>false</vt:bool>
  </property>
  <property fmtid="{D5CDD505-2E9C-101B-9397-08002B2CF9AE}" pid="9" name="ShareDoc">
    <vt:bool>false</vt:bool>
  </property>
  <property fmtid="{D5CDD505-2E9C-101B-9397-08002B2CF9AE}" pid="10" name="Slides">
    <vt:i4>22</vt:i4>
  </property>
</Properties>
</file>